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1E_0.xml" ContentType="application/vnd.ms-powerpoint.comments+xml"/>
  <Override PartName="/ppt/comments/modernComment_121_0.xml" ContentType="application/vnd.ms-powerpoint.comment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8"/>
  </p:notesMasterIdLst>
  <p:handoutMasterIdLst>
    <p:handoutMasterId r:id="rId39"/>
  </p:handoutMasterIdLst>
  <p:sldIdLst>
    <p:sldId id="256" r:id="rId5"/>
    <p:sldId id="285" r:id="rId6"/>
    <p:sldId id="305" r:id="rId7"/>
    <p:sldId id="286" r:id="rId8"/>
    <p:sldId id="298" r:id="rId9"/>
    <p:sldId id="310" r:id="rId10"/>
    <p:sldId id="315" r:id="rId11"/>
    <p:sldId id="314" r:id="rId12"/>
    <p:sldId id="299" r:id="rId13"/>
    <p:sldId id="288" r:id="rId14"/>
    <p:sldId id="300" r:id="rId15"/>
    <p:sldId id="289" r:id="rId16"/>
    <p:sldId id="302" r:id="rId17"/>
    <p:sldId id="316" r:id="rId18"/>
    <p:sldId id="301" r:id="rId19"/>
    <p:sldId id="317" r:id="rId20"/>
    <p:sldId id="308" r:id="rId21"/>
    <p:sldId id="306" r:id="rId22"/>
    <p:sldId id="297" r:id="rId23"/>
    <p:sldId id="295" r:id="rId24"/>
    <p:sldId id="303" r:id="rId25"/>
    <p:sldId id="296" r:id="rId26"/>
    <p:sldId id="307" r:id="rId27"/>
    <p:sldId id="309" r:id="rId28"/>
    <p:sldId id="304" r:id="rId29"/>
    <p:sldId id="293" r:id="rId30"/>
    <p:sldId id="292" r:id="rId31"/>
    <p:sldId id="318" r:id="rId32"/>
    <p:sldId id="312" r:id="rId33"/>
    <p:sldId id="313" r:id="rId34"/>
    <p:sldId id="319" r:id="rId35"/>
    <p:sldId id="320" r:id="rId36"/>
    <p:sldId id="28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E1764D86-A70D-4E7A-C584-172C5B3FCC5D}" name="Abdul Rehman Kalsekar" initials="AK" userId="f66761224d585178"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B45"/>
    <a:srgbClr val="D24726"/>
    <a:srgbClr val="DD462F"/>
    <a:srgbClr val="404040"/>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241" autoAdjust="0"/>
  </p:normalViewPr>
  <p:slideViewPr>
    <p:cSldViewPr snapToGrid="0" showGuides="1">
      <p:cViewPr varScale="1">
        <p:scale>
          <a:sx n="63" d="100"/>
          <a:sy n="63" d="100"/>
        </p:scale>
        <p:origin x="676" y="56"/>
      </p:cViewPr>
      <p:guideLst>
        <p:guide orient="horz" pos="2160"/>
        <p:guide pos="3864"/>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presProps" Target="presProps.xml"/></Relationships>
</file>

<file path=ppt/comments/modernComment_11E_0.xml><?xml version="1.0" encoding="utf-8"?>
<p188:cmLst xmlns:a="http://schemas.openxmlformats.org/drawingml/2006/main" xmlns:r="http://schemas.openxmlformats.org/officeDocument/2006/relationships" xmlns:p188="http://schemas.microsoft.com/office/powerpoint/2018/8/main">
  <p188:cm id="{768C42AC-1A9F-46F9-A16B-50ACC34766C5}" authorId="{E1764D86-A70D-4E7A-C584-172C5B3FCC5D}" created="2025-11-01T12:14:05.017">
    <pc:sldMkLst xmlns:pc="http://schemas.microsoft.com/office/powerpoint/2013/main/command">
      <pc:docMk/>
      <pc:sldMk cId="0" sldId="286"/>
    </pc:sldMkLst>
    <p188:txBody>
      <a:bodyPr/>
      <a:lstStyle/>
      <a:p>
        <a:r>
          <a:rPr lang="en-IN"/>
          <a:t>Done !
</a:t>
        </a:r>
      </a:p>
    </p188:txBody>
  </p188:cm>
</p188:cmLst>
</file>

<file path=ppt/comments/modernComment_121_0.xml><?xml version="1.0" encoding="utf-8"?>
<p188:cmLst xmlns:a="http://schemas.openxmlformats.org/drawingml/2006/main" xmlns:r="http://schemas.openxmlformats.org/officeDocument/2006/relationships" xmlns:p188="http://schemas.microsoft.com/office/powerpoint/2018/8/main">
  <p188:cm id="{42CB7D24-789F-4C7C-BE1A-84CF4205BFB2}" authorId="{E1764D86-A70D-4E7A-C584-172C5B3FCC5D}" created="2025-11-01T12:14:25.785">
    <pc:sldMkLst xmlns:pc="http://schemas.microsoft.com/office/powerpoint/2013/main/command">
      <pc:docMk/>
      <pc:sldMk cId="0" sldId="289"/>
    </pc:sldMkLst>
    <p188:txBody>
      <a:bodyPr/>
      <a:lstStyle/>
      <a:p>
        <a:r>
          <a:rPr lang="en-IN"/>
          <a:t>Done !
</a:t>
        </a:r>
      </a:p>
    </p188:txBody>
    <p188:extLst>
      <p:ext xmlns:p="http://schemas.openxmlformats.org/presentationml/2006/main" uri="{57CB4572-C831-44C2-8A1C-0ADB6CCDFE69}">
        <p223:reactions xmlns:p223="http://schemas.microsoft.com/office/powerpoint/2022/03/main">
          <p223:rxn type="👍">
            <p223:instance time="2025-11-02T06:08:40.472" authorId="{E1764D86-A70D-4E7A-C584-172C5B3FCC5D}"/>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11/2/2025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a:t>
            </a:r>
            <a:r>
              <a:rPr lang="en-US" baseline="0" dirty="0"/>
              <a:t>Slide Show mode, select the arrows to visit links.</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33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EEBAAA-29B5-4AF5-BC5F-7E580C29002D}" type="datetimeFigureOut">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t>11/2/2025</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11/2/2025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a:t>
            </a:fld>
            <a:endParaRPr lang="en-US" dirty="0"/>
          </a:p>
        </p:txBody>
      </p:sp>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microsoft.com/office/2018/10/relationships/comments" Target="../comments/modernComment_11E_0.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s://irt.shodhsagar.com/index.php/j/article/view/1461?utm_source=chatgpt.com" TargetMode="External"/><Relationship Id="rId2" Type="http://schemas.openxmlformats.org/officeDocument/2006/relationships/hyperlink" Target="https://www.mdpi.com/2073-431X/12/4/78?utm_source=chatgpt.com" TargetMode="Externa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www.computer.org/csdl/journal/tm/2025/09/10924738/251sQs5SsyQ?utm_source=chatgpt.com" TargetMode="External"/><Relationship Id="rId2" Type="http://schemas.openxmlformats.org/officeDocument/2006/relationships/hyperlink" Target="https://www.usenix.org/system/files/conference/usenixsecurity25/sec24winter-prepub-332-luo.pdf?utm_source=chatgpt.com" TargetMode="External"/><Relationship Id="rId1" Type="http://schemas.openxmlformats.org/officeDocument/2006/relationships/slideLayout" Target="../slideLayouts/slideLayout13.xml"/><Relationship Id="rId4" Type="http://schemas.openxmlformats.org/officeDocument/2006/relationships/hyperlink" Target="https://arxiv.org/html/2312.02845v1?utm_source=chatgpt.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mdpi.com/2624-800X/4/2/14?utm_source=chatgpt.com" TargetMode="External"/><Relationship Id="rId2" Type="http://schemas.openxmlformats.org/officeDocument/2006/relationships/hyperlink" Target="https://pmc.ncbi.nlm.nih.gov/articles/PMC10851515/?utm_source=chatgpt.com" TargetMode="Externa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microsoft.com/office/2018/10/relationships/comments" Target="../comments/modernComment_121_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13.xml"/><Relationship Id="rId4" Type="http://schemas.openxmlformats.org/officeDocument/2006/relationships/image" Target="../media/image16.jpg"/></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0345" y="265430"/>
            <a:ext cx="10385425" cy="1468120"/>
          </a:xfrm>
        </p:spPr>
        <p:txBody>
          <a:bodyPr anchor="ctr" anchorCtr="0">
            <a:normAutofit fontScale="90000"/>
          </a:bodyPr>
          <a:lstStyle/>
          <a:p>
            <a:pPr algn="ctr"/>
            <a:r>
              <a:rPr lang="en-US" sz="4000" b="1" dirty="0">
                <a:solidFill>
                  <a:schemeClr val="bg1"/>
                </a:solidFill>
              </a:rPr>
              <a:t>AIKTC – Anjuman-I-Islam’s </a:t>
            </a:r>
            <a:r>
              <a:rPr lang="en-US" sz="4000" b="1" dirty="0" err="1">
                <a:solidFill>
                  <a:schemeClr val="bg1"/>
                </a:solidFill>
              </a:rPr>
              <a:t>Kalsekar</a:t>
            </a:r>
            <a:r>
              <a:rPr lang="en-US" sz="4000" b="1" dirty="0">
                <a:solidFill>
                  <a:schemeClr val="bg1"/>
                </a:solidFill>
              </a:rPr>
              <a:t> Technical Campus.</a:t>
            </a:r>
            <a:br>
              <a:rPr lang="en-US" sz="4000" b="1" dirty="0">
                <a:solidFill>
                  <a:schemeClr val="bg1"/>
                </a:solidFill>
              </a:rPr>
            </a:br>
            <a:r>
              <a:rPr lang="en-US" sz="3600" b="1" dirty="0">
                <a:solidFill>
                  <a:schemeClr val="bg1"/>
                </a:solidFill>
              </a:rPr>
              <a:t>Department of Electronics and Computer Science Engineering</a:t>
            </a:r>
          </a:p>
        </p:txBody>
      </p:sp>
      <p:pic>
        <p:nvPicPr>
          <p:cNvPr id="6" name="Picture 5"/>
          <p:cNvPicPr>
            <a:picLocks noChangeAspect="1"/>
          </p:cNvPicPr>
          <p:nvPr/>
        </p:nvPicPr>
        <p:blipFill>
          <a:blip r:embed="rId3"/>
          <a:stretch>
            <a:fillRect/>
          </a:stretch>
        </p:blipFill>
        <p:spPr>
          <a:xfrm>
            <a:off x="245110" y="1188720"/>
            <a:ext cx="1582420" cy="1667510"/>
          </a:xfrm>
          <a:prstGeom prst="rect">
            <a:avLst/>
          </a:prstGeom>
        </p:spPr>
      </p:pic>
      <p:sp>
        <p:nvSpPr>
          <p:cNvPr id="7" name="Title 1"/>
          <p:cNvSpPr txBox="1"/>
          <p:nvPr/>
        </p:nvSpPr>
        <p:spPr>
          <a:xfrm>
            <a:off x="1709852" y="1880591"/>
            <a:ext cx="9017285" cy="2185296"/>
          </a:xfrm>
          <a:prstGeom prst="rect">
            <a:avLst/>
          </a:prstGeom>
        </p:spPr>
        <p:txBody>
          <a:bodyPr vert="horz" lIns="91440" tIns="45720" rIns="91440" bIns="45720" rtlCol="0" anchor="ctr" anchorCtr="0">
            <a:normAutofit fontScale="85000" lnSpcReduction="10000"/>
          </a:bodyPr>
          <a:lstStyle>
            <a:lvl1pPr algn="l" defTabSz="914400" rtl="0" eaLnBrk="1" latinLnBrk="0" hangingPunct="1">
              <a:spcBef>
                <a:spcPct val="0"/>
              </a:spcBef>
              <a:buNone/>
              <a:defRPr sz="2800" kern="1200">
                <a:solidFill>
                  <a:schemeClr val="tx1"/>
                </a:solidFill>
                <a:latin typeface="+mj-lt"/>
                <a:ea typeface="+mj-ea"/>
                <a:cs typeface="+mj-cs"/>
              </a:defRPr>
            </a:lvl1pPr>
          </a:lstStyle>
          <a:p>
            <a:pPr algn="ctr" eaLnBrk="1" hangingPunct="1"/>
            <a:r>
              <a:rPr lang="en-IN" altLang="en-US" dirty="0">
                <a:solidFill>
                  <a:schemeClr val="bg1"/>
                </a:solidFill>
              </a:rPr>
              <a:t> </a:t>
            </a:r>
            <a:r>
              <a:rPr lang="en-IN" altLang="en-US" sz="3900" b="1" dirty="0">
                <a:solidFill>
                  <a:schemeClr val="bg1"/>
                </a:solidFill>
              </a:rPr>
              <a:t>TE Mini Project-2A</a:t>
            </a:r>
          </a:p>
          <a:p>
            <a:pPr algn="ctr" eaLnBrk="1" hangingPunct="1"/>
            <a:r>
              <a:rPr lang="en-US" altLang="en-IN" sz="3900" b="1" dirty="0">
                <a:solidFill>
                  <a:schemeClr val="bg1"/>
                </a:solidFill>
              </a:rPr>
              <a:t>Final </a:t>
            </a:r>
            <a:r>
              <a:rPr lang="en-IN" altLang="en-US" sz="3900" b="1" dirty="0">
                <a:solidFill>
                  <a:schemeClr val="bg1"/>
                </a:solidFill>
              </a:rPr>
              <a:t>Presentation </a:t>
            </a:r>
          </a:p>
          <a:p>
            <a:pPr algn="ctr" eaLnBrk="1" hangingPunct="1"/>
            <a:r>
              <a:rPr lang="en-IN" altLang="en-US" i="1" dirty="0">
                <a:solidFill>
                  <a:schemeClr val="bg1"/>
                </a:solidFill>
              </a:rPr>
              <a:t>On</a:t>
            </a:r>
          </a:p>
          <a:p>
            <a:pPr algn="ctr" eaLnBrk="1" hangingPunct="1"/>
            <a:r>
              <a:rPr lang="en-IN" altLang="en-US" sz="3200" i="1" dirty="0">
                <a:solidFill>
                  <a:schemeClr val="bg1"/>
                </a:solidFill>
              </a:rPr>
              <a:t>“</a:t>
            </a:r>
            <a:r>
              <a:rPr lang="en-IN" altLang="en-US" sz="3200" i="1" dirty="0" err="1">
                <a:solidFill>
                  <a:schemeClr val="bg1"/>
                </a:solidFill>
              </a:rPr>
              <a:t>GridLock</a:t>
            </a:r>
            <a:r>
              <a:rPr lang="en-IN" altLang="en-US" sz="3200" i="1" dirty="0">
                <a:solidFill>
                  <a:schemeClr val="bg1"/>
                </a:solidFill>
              </a:rPr>
              <a:t>: Grid Based Multi Factor Authentication System.”</a:t>
            </a:r>
          </a:p>
          <a:p>
            <a:pPr algn="ctr" eaLnBrk="1" hangingPunct="1"/>
            <a:r>
              <a:rPr lang="en-IN" altLang="en-US" sz="3200" dirty="0">
                <a:solidFill>
                  <a:schemeClr val="bg1"/>
                </a:solidFill>
              </a:rPr>
              <a:t>By </a:t>
            </a:r>
            <a:endParaRPr lang="en-US" dirty="0">
              <a:solidFill>
                <a:schemeClr val="bg1"/>
              </a:solidFill>
            </a:endParaRPr>
          </a:p>
        </p:txBody>
      </p:sp>
      <p:sp>
        <p:nvSpPr>
          <p:cNvPr id="5" name="Title 1"/>
          <p:cNvSpPr txBox="1"/>
          <p:nvPr/>
        </p:nvSpPr>
        <p:spPr>
          <a:xfrm>
            <a:off x="390419" y="5445327"/>
            <a:ext cx="11485652" cy="563366"/>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endParaRPr lang="en-US" dirty="0">
              <a:solidFill>
                <a:schemeClr val="bg1"/>
              </a:solidFill>
            </a:endParaRPr>
          </a:p>
        </p:txBody>
      </p:sp>
      <p:sp>
        <p:nvSpPr>
          <p:cNvPr id="3" name="TextBox 2"/>
          <p:cNvSpPr txBox="1"/>
          <p:nvPr/>
        </p:nvSpPr>
        <p:spPr>
          <a:xfrm>
            <a:off x="1592580" y="4065905"/>
            <a:ext cx="9251950" cy="1631216"/>
          </a:xfrm>
          <a:prstGeom prst="rect">
            <a:avLst/>
          </a:prstGeom>
          <a:noFill/>
        </p:spPr>
        <p:txBody>
          <a:bodyPr wrap="square">
            <a:spAutoFit/>
          </a:bodyPr>
          <a:lstStyle/>
          <a:p>
            <a:pPr eaLnBrk="1" hangingPunct="1">
              <a:defRPr/>
            </a:pPr>
            <a:r>
              <a:rPr lang="en-IN" sz="2000" b="1" dirty="0">
                <a:solidFill>
                  <a:schemeClr val="bg1"/>
                </a:solidFill>
                <a:latin typeface="Source Sans Pro" pitchFamily="34" charset="0"/>
                <a:cs typeface="+mn-cs"/>
              </a:rPr>
              <a:t>Roll No.                		23EC23</a:t>
            </a:r>
            <a:r>
              <a:rPr lang="en-IN" sz="2000" b="1" dirty="0">
                <a:solidFill>
                  <a:schemeClr val="bg1"/>
                </a:solidFill>
                <a:latin typeface="Source Sans Pro" pitchFamily="34" charset="0"/>
              </a:rPr>
              <a:t>, 23EC14, 23EC57, 23EC59</a:t>
            </a:r>
            <a:r>
              <a:rPr lang="en-IN" sz="2000" b="1" dirty="0">
                <a:solidFill>
                  <a:schemeClr val="bg1"/>
                </a:solidFill>
                <a:latin typeface="Source Sans Pro" pitchFamily="34" charset="0"/>
                <a:cs typeface="+mn-cs"/>
              </a:rPr>
              <a:t>                         </a:t>
            </a:r>
            <a:r>
              <a:rPr lang="en-US" altLang="en-IN" sz="2000" b="1" dirty="0">
                <a:solidFill>
                  <a:schemeClr val="bg1"/>
                </a:solidFill>
                <a:latin typeface="Source Sans Pro" pitchFamily="34" charset="0"/>
                <a:cs typeface="+mn-cs"/>
              </a:rPr>
              <a:t>     </a:t>
            </a:r>
            <a:r>
              <a:rPr lang="en-IN" sz="2000" b="1" dirty="0">
                <a:solidFill>
                  <a:schemeClr val="bg1"/>
                </a:solidFill>
                <a:latin typeface="Source Sans Pro" pitchFamily="34" charset="0"/>
                <a:cs typeface="+mn-cs"/>
              </a:rPr>
              <a:t>  </a:t>
            </a:r>
            <a:r>
              <a:rPr lang="en-US" altLang="en-IN" sz="2000" b="1" dirty="0">
                <a:solidFill>
                  <a:schemeClr val="bg1"/>
                </a:solidFill>
                <a:latin typeface="Source Sans Pro" pitchFamily="34" charset="0"/>
                <a:cs typeface="+mn-cs"/>
              </a:rPr>
              <a:t>       </a:t>
            </a:r>
          </a:p>
          <a:p>
            <a:pPr eaLnBrk="1" hangingPunct="1">
              <a:defRPr/>
            </a:pPr>
            <a:r>
              <a:rPr lang="en-IN" sz="2000" b="1" dirty="0">
                <a:solidFill>
                  <a:schemeClr val="bg1"/>
                </a:solidFill>
                <a:latin typeface="Source Sans Pro" pitchFamily="34" charset="0"/>
                <a:cs typeface="+mn-cs"/>
              </a:rPr>
              <a:t>Name of </a:t>
            </a:r>
            <a:r>
              <a:rPr lang="en-IN" sz="2000" b="1" dirty="0">
                <a:solidFill>
                  <a:schemeClr val="bg1"/>
                </a:solidFill>
                <a:latin typeface="Source Sans Pro" pitchFamily="34" charset="0"/>
                <a:cs typeface="Arial" panose="020B0604020202020204" pitchFamily="34" charset="0"/>
              </a:rPr>
              <a:t>Students. 	Kalsekar Abdul Rehman Abdul Alim,  </a:t>
            </a:r>
          </a:p>
          <a:p>
            <a:pPr eaLnBrk="1" hangingPunct="1">
              <a:defRPr/>
            </a:pPr>
            <a:r>
              <a:rPr lang="en-IN" sz="2000" b="1" dirty="0">
                <a:solidFill>
                  <a:schemeClr val="bg1"/>
                </a:solidFill>
                <a:latin typeface="Source Sans Pro" pitchFamily="34" charset="0"/>
                <a:cs typeface="Arial" panose="020B0604020202020204" pitchFamily="34" charset="0"/>
              </a:rPr>
              <a:t>			Ansari Mohd Adnan Mohd Ali, </a:t>
            </a:r>
          </a:p>
          <a:p>
            <a:pPr eaLnBrk="1" hangingPunct="1">
              <a:defRPr/>
            </a:pPr>
            <a:r>
              <a:rPr lang="en-IN" sz="2000" b="1" dirty="0">
                <a:solidFill>
                  <a:schemeClr val="bg1"/>
                </a:solidFill>
                <a:latin typeface="Source Sans Pro" pitchFamily="34" charset="0"/>
                <a:cs typeface="Arial" panose="020B0604020202020204" pitchFamily="34" charset="0"/>
              </a:rPr>
              <a:t>			Shaikh Mohd Affan Mohd Umar, </a:t>
            </a:r>
          </a:p>
          <a:p>
            <a:pPr eaLnBrk="1" hangingPunct="1">
              <a:defRPr/>
            </a:pPr>
            <a:r>
              <a:rPr lang="en-IN" sz="2000" b="1" dirty="0">
                <a:solidFill>
                  <a:schemeClr val="bg1"/>
                </a:solidFill>
                <a:latin typeface="Source Sans Pro" pitchFamily="34" charset="0"/>
                <a:cs typeface="Arial" panose="020B0604020202020204" pitchFamily="34" charset="0"/>
              </a:rPr>
              <a:t>			Shaikh Mohd Arsan Abdul Sattar</a:t>
            </a:r>
          </a:p>
        </p:txBody>
      </p:sp>
      <p:sp>
        <p:nvSpPr>
          <p:cNvPr id="4" name="TextBox 3"/>
          <p:cNvSpPr txBox="1"/>
          <p:nvPr/>
        </p:nvSpPr>
        <p:spPr>
          <a:xfrm>
            <a:off x="3287712" y="5675713"/>
            <a:ext cx="5616575" cy="1138237"/>
          </a:xfrm>
          <a:prstGeom prst="rect">
            <a:avLst/>
          </a:prstGeom>
          <a:noFill/>
        </p:spPr>
        <p:txBody>
          <a:bodyPr>
            <a:spAutoFit/>
          </a:bodyPr>
          <a:lstStyle/>
          <a:p>
            <a:pPr algn="ctr" eaLnBrk="1" hangingPunct="1">
              <a:buFont typeface="Arial" panose="020B0604020202020204" pitchFamily="34" charset="0"/>
              <a:buNone/>
              <a:defRPr/>
            </a:pPr>
            <a:r>
              <a:rPr lang="en-IN" altLang="en-US" sz="2500" b="1" dirty="0">
                <a:solidFill>
                  <a:schemeClr val="bg1"/>
                </a:solidFill>
                <a:latin typeface="Source Sans Pro" pitchFamily="34" charset="0"/>
                <a:cs typeface="+mn-cs"/>
              </a:rPr>
              <a:t>Guided by </a:t>
            </a:r>
          </a:p>
          <a:p>
            <a:pPr algn="ctr" eaLnBrk="1" hangingPunct="1">
              <a:buFont typeface="Arial" panose="020B0604020202020204" pitchFamily="34" charset="0"/>
              <a:buNone/>
              <a:defRPr/>
            </a:pPr>
            <a:r>
              <a:rPr lang="en-IN" altLang="en-US" sz="2500" b="1" dirty="0">
                <a:solidFill>
                  <a:schemeClr val="bg1"/>
                </a:solidFill>
                <a:latin typeface="Source Sans Pro" pitchFamily="34" charset="0"/>
                <a:cs typeface="+mn-cs"/>
              </a:rPr>
              <a:t>Prof. Muhammed </a:t>
            </a:r>
            <a:r>
              <a:rPr lang="en-IN" altLang="en-US" sz="2500" b="1" dirty="0" err="1">
                <a:solidFill>
                  <a:schemeClr val="bg1"/>
                </a:solidFill>
                <a:latin typeface="Source Sans Pro" pitchFamily="34" charset="0"/>
                <a:cs typeface="+mn-cs"/>
              </a:rPr>
              <a:t>Isamaeel</a:t>
            </a:r>
            <a:endParaRPr lang="en-IN" altLang="en-US" sz="2500" b="1" dirty="0">
              <a:solidFill>
                <a:schemeClr val="bg1"/>
              </a:solidFill>
              <a:latin typeface="Source Sans Pro" pitchFamily="34" charset="0"/>
              <a:cs typeface="+mn-cs"/>
            </a:endParaRPr>
          </a:p>
          <a:p>
            <a:pPr eaLnBrk="1" hangingPunct="1">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0756393" cy="640080"/>
          </a:xfrm>
        </p:spPr>
        <p:txBody>
          <a:bodyPr>
            <a:noAutofit/>
          </a:bodyPr>
          <a:lstStyle/>
          <a:p>
            <a:pPr lvl="0"/>
            <a:r>
              <a:rPr lang="en-US" sz="3200" b="1" dirty="0">
                <a:latin typeface="Segoe UI Light" panose="020B0502040204020203" pitchFamily="34" charset="0"/>
                <a:cs typeface="Segoe UI Light" panose="020B0502040204020203" pitchFamily="34" charset="0"/>
              </a:rPr>
              <a:t>Outline</a:t>
            </a:r>
          </a:p>
        </p:txBody>
      </p:sp>
      <p:sp>
        <p:nvSpPr>
          <p:cNvPr id="24" name="Title 1"/>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68" name="TextBox 67"/>
          <p:cNvSpPr txBox="1"/>
          <p:nvPr/>
        </p:nvSpPr>
        <p:spPr>
          <a:xfrm>
            <a:off x="814209" y="1213778"/>
            <a:ext cx="8587704" cy="4708981"/>
          </a:xfrm>
          <a:prstGeom prst="rect">
            <a:avLst/>
          </a:prstGeom>
          <a:noFill/>
        </p:spPr>
        <p:txBody>
          <a:bodyPr wrap="square" rtlCol="0">
            <a:spAutoFit/>
          </a:bodyPr>
          <a:lstStyle/>
          <a:p>
            <a:pPr marL="263525" indent="-263525" algn="just">
              <a:lnSpc>
                <a:spcPct val="150000"/>
              </a:lnSpc>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Introduction</a:t>
            </a:r>
          </a:p>
          <a:p>
            <a:pPr marL="263525" indent="-263525" algn="just">
              <a:lnSpc>
                <a:spcPct val="150000"/>
              </a:lnSpc>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Literature Survey</a:t>
            </a:r>
          </a:p>
          <a:p>
            <a:pPr marL="263525" indent="-263525" algn="just">
              <a:lnSpc>
                <a:spcPct val="150000"/>
              </a:lnSpc>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Limitations of the existing systems</a:t>
            </a:r>
          </a:p>
          <a:p>
            <a:pPr marL="263525" indent="-263525" algn="just">
              <a:lnSpc>
                <a:spcPct val="150000"/>
              </a:lnSpc>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Problem statement</a:t>
            </a:r>
          </a:p>
          <a:p>
            <a:pPr marL="263525" indent="-263525" algn="just">
              <a:lnSpc>
                <a:spcPct val="150000"/>
              </a:lnSpc>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System Design and Architecture</a:t>
            </a:r>
          </a:p>
          <a:p>
            <a:pPr marL="263525" indent="-263525" algn="just">
              <a:lnSpc>
                <a:spcPct val="150000"/>
              </a:lnSpc>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Proposed Methodology/ Techniques</a:t>
            </a:r>
          </a:p>
          <a:p>
            <a:pPr marL="263525" indent="-263525" algn="just">
              <a:lnSpc>
                <a:spcPct val="150000"/>
              </a:lnSpc>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Implementation Details</a:t>
            </a:r>
          </a:p>
          <a:p>
            <a:pPr marL="263525" indent="-263525" algn="just">
              <a:lnSpc>
                <a:spcPct val="150000"/>
              </a:lnSpc>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Result Analysis</a:t>
            </a:r>
            <a:endParaRPr lang="en-IN" altLang="en-US" sz="2000" dirty="0">
              <a:latin typeface="Times New Roman" panose="02020603050405020304" pitchFamily="18" charset="0"/>
              <a:cs typeface="Times New Roman" panose="02020603050405020304" pitchFamily="18" charset="0"/>
            </a:endParaRPr>
          </a:p>
          <a:p>
            <a:pPr marL="263525" indent="-263525" algn="just">
              <a:lnSpc>
                <a:spcPct val="150000"/>
              </a:lnSpc>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Conclusion</a:t>
            </a:r>
          </a:p>
          <a:p>
            <a:pPr marL="263525" indent="-263525" algn="just">
              <a:lnSpc>
                <a:spcPct val="150000"/>
              </a:lnSpc>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References </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3A896-D0C2-1881-0065-52EF3133C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FA07B8-57B6-B111-FF26-86A0C848D96E}"/>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Introduction</a:t>
            </a:r>
          </a:p>
        </p:txBody>
      </p:sp>
      <p:sp>
        <p:nvSpPr>
          <p:cNvPr id="24" name="Title 1">
            <a:extLst>
              <a:ext uri="{FF2B5EF4-FFF2-40B4-BE49-F238E27FC236}">
                <a16:creationId xmlns:a16="http://schemas.microsoft.com/office/drawing/2014/main" id="{CA480E88-939C-3A7A-DBE8-9DD716C8E140}"/>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4054686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0756393" cy="640080"/>
          </a:xfrm>
        </p:spPr>
        <p:txBody>
          <a:bodyPr>
            <a:noAutofit/>
          </a:bodyPr>
          <a:lstStyle/>
          <a:p>
            <a:pPr lvl="0"/>
            <a:r>
              <a:rPr lang="en-IN" sz="3200" b="1" dirty="0">
                <a:effectLst>
                  <a:outerShdw blurRad="38100" dist="38100" dir="2700000" algn="tl">
                    <a:srgbClr val="000000">
                      <a:alpha val="43137"/>
                    </a:srgbClr>
                  </a:outerShdw>
                </a:effectLst>
              </a:rPr>
              <a:t>Introduction and Motivation:</a:t>
            </a:r>
            <a:endParaRPr lang="en-US" sz="32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endParaRPr>
          </a:p>
        </p:txBody>
      </p:sp>
      <p:sp>
        <p:nvSpPr>
          <p:cNvPr id="24" name="Title 1"/>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68" name="TextBox 67"/>
          <p:cNvSpPr txBox="1"/>
          <p:nvPr/>
        </p:nvSpPr>
        <p:spPr>
          <a:xfrm>
            <a:off x="558452" y="1490008"/>
            <a:ext cx="5842348" cy="4093428"/>
          </a:xfrm>
          <a:prstGeom prst="rect">
            <a:avLst/>
          </a:prstGeom>
          <a:noFill/>
        </p:spPr>
        <p:txBody>
          <a:bodyPr wrap="square" rtlCol="0">
            <a:spAutoFit/>
          </a:bodyPr>
          <a:lstStyle/>
          <a:p>
            <a:r>
              <a:rPr lang="en-US" sz="2000" b="1" dirty="0"/>
              <a:t>Introduction: </a:t>
            </a:r>
          </a:p>
          <a:p>
            <a:r>
              <a:rPr lang="en-US" sz="2000" dirty="0"/>
              <a:t>With the advent of digitalization, every business needs an online presence. Hence, there is a high need of user authentication and authorization. </a:t>
            </a:r>
          </a:p>
          <a:p>
            <a:endParaRPr lang="en-US" sz="2000" dirty="0"/>
          </a:p>
          <a:p>
            <a:r>
              <a:rPr lang="en-US" sz="2000" b="1" dirty="0"/>
              <a:t>Motivation: </a:t>
            </a:r>
          </a:p>
          <a:p>
            <a:r>
              <a:rPr lang="en-US" sz="2000" dirty="0"/>
              <a:t>However, there have not been any major development in the user authentication and authorization and existing systems have many issues. </a:t>
            </a:r>
          </a:p>
          <a:p>
            <a:endParaRPr lang="en-US" sz="2000" dirty="0"/>
          </a:p>
          <a:p>
            <a:r>
              <a:rPr lang="en-US" sz="2000" b="1" dirty="0"/>
              <a:t>Objective: </a:t>
            </a:r>
          </a:p>
          <a:p>
            <a:r>
              <a:rPr lang="en-US" sz="2000" dirty="0"/>
              <a:t>To create a unique and more </a:t>
            </a:r>
            <a:r>
              <a:rPr lang="en-US" sz="2000" dirty="0" err="1"/>
              <a:t>robost</a:t>
            </a:r>
            <a:r>
              <a:rPr lang="en-US" sz="2000" dirty="0"/>
              <a:t> </a:t>
            </a:r>
            <a:r>
              <a:rPr lang="en-US" sz="2000" u="sng" dirty="0"/>
              <a:t>grid based authentication system</a:t>
            </a:r>
          </a:p>
        </p:txBody>
      </p:sp>
      <p:pic>
        <p:nvPicPr>
          <p:cNvPr id="3" name="Picture 2">
            <a:extLst>
              <a:ext uri="{FF2B5EF4-FFF2-40B4-BE49-F238E27FC236}">
                <a16:creationId xmlns:a16="http://schemas.microsoft.com/office/drawing/2014/main" id="{E276AD1B-C7E9-9B4E-50E4-7A6E9D952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297058"/>
            <a:ext cx="4495800" cy="45335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70131-1B3C-AE19-8C48-EC463662D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1E6F0-9B56-6E31-0A6E-46313D3F6B78}"/>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Literature Survey</a:t>
            </a:r>
          </a:p>
        </p:txBody>
      </p:sp>
      <p:sp>
        <p:nvSpPr>
          <p:cNvPr id="24" name="Title 1">
            <a:extLst>
              <a:ext uri="{FF2B5EF4-FFF2-40B4-BE49-F238E27FC236}">
                <a16:creationId xmlns:a16="http://schemas.microsoft.com/office/drawing/2014/main" id="{D6C01310-16AF-A60F-502B-D9D158AFCA48}"/>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2797545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368C0-4E78-2BFE-09F3-AA0C16D89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22B2A-5D7E-11A6-B41F-05B4AC0F84DA}"/>
              </a:ext>
            </a:extLst>
          </p:cNvPr>
          <p:cNvSpPr>
            <a:spLocks noGrp="1"/>
          </p:cNvSpPr>
          <p:nvPr>
            <p:ph type="title"/>
          </p:nvPr>
        </p:nvSpPr>
        <p:spPr>
          <a:xfrm>
            <a:off x="390397" y="293116"/>
            <a:ext cx="10756393" cy="640080"/>
          </a:xfrm>
        </p:spPr>
        <p:txBody>
          <a:bodyPr>
            <a:noAutofit/>
          </a:bodyPr>
          <a:lstStyle/>
          <a:p>
            <a:pPr lvl="0"/>
            <a:r>
              <a:rPr lang="en-US" sz="32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Literature Survey</a:t>
            </a:r>
          </a:p>
        </p:txBody>
      </p:sp>
      <p:sp>
        <p:nvSpPr>
          <p:cNvPr id="24" name="Title 1">
            <a:extLst>
              <a:ext uri="{FF2B5EF4-FFF2-40B4-BE49-F238E27FC236}">
                <a16:creationId xmlns:a16="http://schemas.microsoft.com/office/drawing/2014/main" id="{E6E1E1E1-E71E-AC37-ED11-7F0C4A0D7D76}"/>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graphicFrame>
        <p:nvGraphicFramePr>
          <p:cNvPr id="6" name="Table 5">
            <a:extLst>
              <a:ext uri="{FF2B5EF4-FFF2-40B4-BE49-F238E27FC236}">
                <a16:creationId xmlns:a16="http://schemas.microsoft.com/office/drawing/2014/main" id="{74B6C1CD-AB1D-4B9A-AF6F-0F8B39EF6D48}"/>
              </a:ext>
            </a:extLst>
          </p:cNvPr>
          <p:cNvGraphicFramePr>
            <a:graphicFrameLocks noGrp="1"/>
          </p:cNvGraphicFramePr>
          <p:nvPr>
            <p:extLst>
              <p:ext uri="{D42A27DB-BD31-4B8C-83A1-F6EECF244321}">
                <p14:modId xmlns:p14="http://schemas.microsoft.com/office/powerpoint/2010/main" val="2912024198"/>
              </p:ext>
            </p:extLst>
          </p:nvPr>
        </p:nvGraphicFramePr>
        <p:xfrm>
          <a:off x="353173" y="1269140"/>
          <a:ext cx="11485653" cy="4647108"/>
        </p:xfrm>
        <a:graphic>
          <a:graphicData uri="http://schemas.openxmlformats.org/drawingml/2006/table">
            <a:tbl>
              <a:tblPr>
                <a:tableStyleId>{5C22544A-7EE6-4342-B048-85BDC9FD1C3A}</a:tableStyleId>
              </a:tblPr>
              <a:tblGrid>
                <a:gridCol w="1359736">
                  <a:extLst>
                    <a:ext uri="{9D8B030D-6E8A-4147-A177-3AD203B41FA5}">
                      <a16:colId xmlns:a16="http://schemas.microsoft.com/office/drawing/2014/main" val="751525816"/>
                    </a:ext>
                  </a:extLst>
                </a:gridCol>
                <a:gridCol w="3296331">
                  <a:extLst>
                    <a:ext uri="{9D8B030D-6E8A-4147-A177-3AD203B41FA5}">
                      <a16:colId xmlns:a16="http://schemas.microsoft.com/office/drawing/2014/main" val="248332246"/>
                    </a:ext>
                  </a:extLst>
                </a:gridCol>
                <a:gridCol w="3512653">
                  <a:extLst>
                    <a:ext uri="{9D8B030D-6E8A-4147-A177-3AD203B41FA5}">
                      <a16:colId xmlns:a16="http://schemas.microsoft.com/office/drawing/2014/main" val="2104355056"/>
                    </a:ext>
                  </a:extLst>
                </a:gridCol>
                <a:gridCol w="3316933">
                  <a:extLst>
                    <a:ext uri="{9D8B030D-6E8A-4147-A177-3AD203B41FA5}">
                      <a16:colId xmlns:a16="http://schemas.microsoft.com/office/drawing/2014/main" val="2823185646"/>
                    </a:ext>
                  </a:extLst>
                </a:gridCol>
              </a:tblGrid>
              <a:tr h="239072">
                <a:tc>
                  <a:txBody>
                    <a:bodyPr/>
                    <a:lstStyle/>
                    <a:p>
                      <a:pPr algn="ctr" fontAlgn="ctr">
                        <a:buNone/>
                      </a:pPr>
                      <a:r>
                        <a:rPr lang="en-IN" sz="1600" b="1" u="none" strike="noStrike" dirty="0">
                          <a:effectLst/>
                        </a:rPr>
                        <a:t>Sr. No.</a:t>
                      </a:r>
                      <a:endParaRPr lang="en-IN" sz="1600" b="1"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600" b="1" u="none" strike="noStrike" dirty="0">
                          <a:effectLst/>
                        </a:rPr>
                        <a:t>Title, Author &amp; Year</a:t>
                      </a:r>
                      <a:endParaRPr lang="en-IN" sz="1600" b="1"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600" b="1" u="none" strike="noStrike" dirty="0">
                          <a:effectLst/>
                        </a:rPr>
                        <a:t>Method / Technique Used</a:t>
                      </a:r>
                      <a:endParaRPr lang="en-IN" sz="1600" b="1"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b="1" u="none" strike="noStrike" dirty="0">
                          <a:effectLst/>
                        </a:rPr>
                        <a:t>Gap / Potential for Further Work</a:t>
                      </a:r>
                      <a:endParaRPr lang="en-US" sz="1600" b="1"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208020"/>
                  </a:ext>
                </a:extLst>
              </a:tr>
              <a:tr h="2390726">
                <a:tc>
                  <a:txBody>
                    <a:bodyPr/>
                    <a:lstStyle/>
                    <a:p>
                      <a:pPr algn="ctr" fontAlgn="ctr">
                        <a:buNone/>
                      </a:pPr>
                      <a:r>
                        <a:rPr lang="en-IN" sz="1600" u="none" strike="noStrike" dirty="0">
                          <a:effectLst/>
                        </a:rPr>
                        <a:t>1</a:t>
                      </a:r>
                      <a:endParaRPr lang="en-IN" sz="1600" b="0"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600" u="sng" strike="noStrike" dirty="0">
                          <a:effectLst/>
                          <a:hlinkClick r:id="rId2" tooltip="Enhancing JWT Authentication and Authorization in Web Applications Based on User Behavior History"/>
                        </a:rPr>
                        <a:t>“Enhancing JWT Authentication and Authorization in Web Applications Based on User </a:t>
                      </a:r>
                      <a:r>
                        <a:rPr lang="en-IN" sz="1600" u="sng" strike="noStrike" dirty="0" err="1">
                          <a:effectLst/>
                          <a:hlinkClick r:id="rId2" tooltip="Enhancing JWT Authentication and Authorization in Web Applications Based on User Behavior History"/>
                        </a:rPr>
                        <a:t>Behavior</a:t>
                      </a:r>
                      <a:r>
                        <a:rPr lang="en-IN" sz="1600" u="sng" strike="noStrike" dirty="0">
                          <a:effectLst/>
                          <a:hlinkClick r:id="rId2" tooltip="Enhancing JWT Authentication and Authorization in Web Applications Based on User Behavior History"/>
                        </a:rPr>
                        <a:t> History” – Ahmet Bucko, Kamer </a:t>
                      </a:r>
                      <a:r>
                        <a:rPr lang="en-IN" sz="1600" u="sng" strike="noStrike" dirty="0" err="1">
                          <a:effectLst/>
                          <a:hlinkClick r:id="rId2" tooltip="Enhancing JWT Authentication and Authorization in Web Applications Based on User Behavior History"/>
                        </a:rPr>
                        <a:t>Vishi</a:t>
                      </a:r>
                      <a:r>
                        <a:rPr lang="en-IN" sz="1600" u="sng" strike="noStrike" dirty="0">
                          <a:effectLst/>
                          <a:hlinkClick r:id="rId2" tooltip="Enhancing JWT Authentication and Authorization in Web Applications Based on User Behavior History"/>
                        </a:rPr>
                        <a:t>, Bujar Krasniqi, Blerim Rexha (2023) (MDPI)</a:t>
                      </a:r>
                      <a:endParaRPr lang="en-IN" sz="1600" b="0" i="0" u="sng" strike="noStrike" dirty="0">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sng" strike="noStrike" dirty="0">
                          <a:effectLst/>
                          <a:hlinkClick r:id="rId2" tooltip="Enhancing JWT Authentication and Authorization in Web Applications Based on User Behavior History"/>
                        </a:rPr>
                        <a:t>They use a standard token-based authentication/authorization model (JWT) and enhance it by incorporating user </a:t>
                      </a:r>
                      <a:r>
                        <a:rPr lang="en-US" sz="1600" u="sng" strike="noStrike" dirty="0" err="1">
                          <a:effectLst/>
                          <a:hlinkClick r:id="rId2" tooltip="Enhancing JWT Authentication and Authorization in Web Applications Based on User Behavior History"/>
                        </a:rPr>
                        <a:t>behaviour</a:t>
                      </a:r>
                      <a:r>
                        <a:rPr lang="en-US" sz="1600" u="sng" strike="noStrike" dirty="0">
                          <a:effectLst/>
                          <a:hlinkClick r:id="rId2" tooltip="Enhancing JWT Authentication and Authorization in Web Applications Based on User Behavior History"/>
                        </a:rPr>
                        <a:t> history (e.g., number of password attempts, IP address consistency, user‐agent type). They compute a weight/percentage reliability score per user and use that to influence trust in the authentication/authorization process. (MDPI)</a:t>
                      </a:r>
                      <a:endParaRPr lang="en-US" sz="1600" b="0" i="0" u="sng" strike="noStrike" dirty="0">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none" strike="noStrike" dirty="0">
                          <a:effectLst/>
                        </a:rPr>
                        <a:t>The </a:t>
                      </a:r>
                      <a:r>
                        <a:rPr lang="en-US" sz="1600" u="none" strike="noStrike" dirty="0" err="1">
                          <a:effectLst/>
                        </a:rPr>
                        <a:t>behavioural</a:t>
                      </a:r>
                      <a:r>
                        <a:rPr lang="en-US" sz="1600" u="none" strike="noStrike" dirty="0">
                          <a:effectLst/>
                        </a:rPr>
                        <a:t>‐score approach may </a:t>
                      </a:r>
                      <a:r>
                        <a:rPr lang="en-US" sz="1600" u="none" strike="noStrike" dirty="0" err="1">
                          <a:effectLst/>
                        </a:rPr>
                        <a:t>penalise</a:t>
                      </a:r>
                      <a:r>
                        <a:rPr lang="en-US" sz="1600" u="none" strike="noStrike" dirty="0">
                          <a:effectLst/>
                        </a:rPr>
                        <a:t> users with legitimate changes (e.g., mobile switching IPs or devices) and may still rely on traditional credentials plus token.</a:t>
                      </a:r>
                      <a:endParaRPr lang="en-US" sz="1600" b="0"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0156012"/>
                  </a:ext>
                </a:extLst>
              </a:tr>
              <a:tr h="1912581">
                <a:tc>
                  <a:txBody>
                    <a:bodyPr/>
                    <a:lstStyle/>
                    <a:p>
                      <a:pPr algn="ctr" fontAlgn="ctr">
                        <a:buNone/>
                      </a:pPr>
                      <a:r>
                        <a:rPr lang="en-IN" sz="1600" u="none" strike="noStrike">
                          <a:effectLst/>
                        </a:rPr>
                        <a:t>2</a:t>
                      </a:r>
                      <a:endParaRPr lang="en-IN" sz="1600" b="0" i="0" u="none" strike="noStrike">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600" u="sng" strike="noStrike">
                          <a:effectLst/>
                          <a:hlinkClick r:id="rId3" tooltip="Innovations in Multi-Factor Authentication: Exploring OAuth for Enhanced Security | Innovative Research Thoughts"/>
                        </a:rPr>
                        <a:t>“Innovations in Multi-Factor Authentication: Exploring OAuth for Enhanced Security” – Aravind Ayyagari, Shalu Jain, Anshika Aggarwal (2023) (Innovative Research Thoughts)</a:t>
                      </a:r>
                      <a:endParaRPr lang="en-IN" sz="1600" b="0" i="0" u="sng" strike="noStrike">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none" strike="noStrike">
                          <a:effectLst/>
                        </a:rPr>
                        <a:t>Focuses on Multi-Factor Authentication (MFA) in web systems, and how token‐based protocols such as OAuth 2.0 (and by implication SSO) can be leveraged to enhance authentication and authorization. It discusses the benefits, implementation challenges and how MFA combined with OAuth improves security.</a:t>
                      </a:r>
                      <a:endParaRPr lang="en-US" sz="1600" b="0" i="0" u="none" strike="noStrike">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none" strike="noStrike" dirty="0">
                          <a:effectLst/>
                        </a:rPr>
                        <a:t>While it discusses MFA + OAuth conceptually, real‐world large‐scale empirical results may be limited; also, user experience / usability tradeoffs are less </a:t>
                      </a:r>
                      <a:r>
                        <a:rPr lang="en-US" sz="1600" u="none" strike="noStrike" dirty="0" err="1">
                          <a:effectLst/>
                        </a:rPr>
                        <a:t>emphasised</a:t>
                      </a:r>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3659024"/>
                  </a:ext>
                </a:extLst>
              </a:tr>
            </a:tbl>
          </a:graphicData>
        </a:graphic>
      </p:graphicFrame>
    </p:spTree>
    <p:extLst>
      <p:ext uri="{BB962C8B-B14F-4D97-AF65-F5344CB8AC3E}">
        <p14:creationId xmlns:p14="http://schemas.microsoft.com/office/powerpoint/2010/main" val="2219110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65C64-CF29-2FF8-3010-5B41B7587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F93A8-A4C4-4F1C-C6B5-3B44BDE44B96}"/>
              </a:ext>
            </a:extLst>
          </p:cNvPr>
          <p:cNvSpPr>
            <a:spLocks noGrp="1"/>
          </p:cNvSpPr>
          <p:nvPr>
            <p:ph type="title"/>
          </p:nvPr>
        </p:nvSpPr>
        <p:spPr>
          <a:xfrm>
            <a:off x="390397" y="293116"/>
            <a:ext cx="10756393" cy="640080"/>
          </a:xfrm>
        </p:spPr>
        <p:txBody>
          <a:bodyPr>
            <a:noAutofit/>
          </a:bodyPr>
          <a:lstStyle/>
          <a:p>
            <a:pPr lvl="0"/>
            <a:r>
              <a:rPr lang="en-US" sz="32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Literature Survey</a:t>
            </a:r>
          </a:p>
        </p:txBody>
      </p:sp>
      <p:sp>
        <p:nvSpPr>
          <p:cNvPr id="24" name="Title 1">
            <a:extLst>
              <a:ext uri="{FF2B5EF4-FFF2-40B4-BE49-F238E27FC236}">
                <a16:creationId xmlns:a16="http://schemas.microsoft.com/office/drawing/2014/main" id="{4D6C42B8-E1E5-71C5-EA06-629EBB62A062}"/>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graphicFrame>
        <p:nvGraphicFramePr>
          <p:cNvPr id="3" name="Table 2">
            <a:extLst>
              <a:ext uri="{FF2B5EF4-FFF2-40B4-BE49-F238E27FC236}">
                <a16:creationId xmlns:a16="http://schemas.microsoft.com/office/drawing/2014/main" id="{79554533-21DA-0F5A-CE20-B98852B95E95}"/>
              </a:ext>
            </a:extLst>
          </p:cNvPr>
          <p:cNvGraphicFramePr>
            <a:graphicFrameLocks noGrp="1"/>
          </p:cNvGraphicFramePr>
          <p:nvPr>
            <p:extLst>
              <p:ext uri="{D42A27DB-BD31-4B8C-83A1-F6EECF244321}">
                <p14:modId xmlns:p14="http://schemas.microsoft.com/office/powerpoint/2010/main" val="2723378935"/>
              </p:ext>
            </p:extLst>
          </p:nvPr>
        </p:nvGraphicFramePr>
        <p:xfrm>
          <a:off x="390396" y="1271270"/>
          <a:ext cx="11385043" cy="4428490"/>
        </p:xfrm>
        <a:graphic>
          <a:graphicData uri="http://schemas.openxmlformats.org/drawingml/2006/table">
            <a:tbl>
              <a:tblPr>
                <a:tableStyleId>{5C22544A-7EE6-4342-B048-85BDC9FD1C3A}</a:tableStyleId>
              </a:tblPr>
              <a:tblGrid>
                <a:gridCol w="1347826">
                  <a:extLst>
                    <a:ext uri="{9D8B030D-6E8A-4147-A177-3AD203B41FA5}">
                      <a16:colId xmlns:a16="http://schemas.microsoft.com/office/drawing/2014/main" val="1889600729"/>
                    </a:ext>
                  </a:extLst>
                </a:gridCol>
                <a:gridCol w="3267456">
                  <a:extLst>
                    <a:ext uri="{9D8B030D-6E8A-4147-A177-3AD203B41FA5}">
                      <a16:colId xmlns:a16="http://schemas.microsoft.com/office/drawing/2014/main" val="3419168611"/>
                    </a:ext>
                  </a:extLst>
                </a:gridCol>
                <a:gridCol w="3481883">
                  <a:extLst>
                    <a:ext uri="{9D8B030D-6E8A-4147-A177-3AD203B41FA5}">
                      <a16:colId xmlns:a16="http://schemas.microsoft.com/office/drawing/2014/main" val="2265899519"/>
                    </a:ext>
                  </a:extLst>
                </a:gridCol>
                <a:gridCol w="3287878">
                  <a:extLst>
                    <a:ext uri="{9D8B030D-6E8A-4147-A177-3AD203B41FA5}">
                      <a16:colId xmlns:a16="http://schemas.microsoft.com/office/drawing/2014/main" val="2209235168"/>
                    </a:ext>
                  </a:extLst>
                </a:gridCol>
              </a:tblGrid>
              <a:tr h="1383903">
                <a:tc>
                  <a:txBody>
                    <a:bodyPr/>
                    <a:lstStyle/>
                    <a:p>
                      <a:pPr algn="ctr" fontAlgn="ctr">
                        <a:buNone/>
                      </a:pPr>
                      <a:r>
                        <a:rPr lang="en-IN" sz="1600" u="none" strike="noStrike" dirty="0">
                          <a:effectLst/>
                        </a:rPr>
                        <a:t>3</a:t>
                      </a:r>
                      <a:endParaRPr lang="en-IN" sz="1600" b="0"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sng" strike="noStrike" dirty="0">
                          <a:effectLst/>
                          <a:hlinkClick r:id="rId2" tooltip="Exploiting and Securing OAuth 2.0 in Integration Platforms"/>
                        </a:rPr>
                        <a:t>Exploiting and Securing OAuth 2.0 in Integration Platforms — USENIX / Sec 2024/2025 preprint. (USENIX)</a:t>
                      </a:r>
                      <a:endParaRPr lang="en-US" sz="1600" b="0" i="0" u="sng" strike="noStrike" dirty="0">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none" strike="noStrike" dirty="0">
                          <a:effectLst/>
                        </a:rPr>
                        <a:t>Empirical discovery of cross-app OAuth token/account-linking attacks and a semi-automated scanner for OAuth misconfigurations.</a:t>
                      </a:r>
                      <a:endParaRPr lang="en-US" sz="1600" b="0"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sng" strike="noStrike" dirty="0">
                          <a:effectLst/>
                          <a:hlinkClick r:id="rId2" tooltip="Exploiting and Securing OAuth 2.0 in Integration Platforms"/>
                        </a:rPr>
                        <a:t>OAuth remains central to SSO; gap: create developer tooling / secure defaults and demonstrate fixes on popular identity providers and website deployments. (USENIX)</a:t>
                      </a:r>
                      <a:endParaRPr lang="en-US" sz="1600" b="0" i="0" u="sng" strike="noStrike" dirty="0">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8516032"/>
                  </a:ext>
                </a:extLst>
              </a:tr>
              <a:tr h="1383903">
                <a:tc>
                  <a:txBody>
                    <a:bodyPr/>
                    <a:lstStyle/>
                    <a:p>
                      <a:pPr algn="ctr" fontAlgn="ctr">
                        <a:buNone/>
                      </a:pPr>
                      <a:r>
                        <a:rPr lang="en-IN" sz="1600" u="none" strike="noStrike">
                          <a:effectLst/>
                        </a:rPr>
                        <a:t>4</a:t>
                      </a:r>
                      <a:endParaRPr lang="en-IN" sz="1600" b="0" i="0" u="none" strike="noStrike">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sng" strike="noStrike" dirty="0">
                          <a:effectLst/>
                          <a:hlinkClick r:id="rId3" tooltip="Identifying Implementation Flaws of SMS OTP Authentication"/>
                        </a:rPr>
                        <a:t>Identifying Implementation Flaws of SMS OTP Authentication — IEEE / Computer Society (2025). (IEEE Computer Society)</a:t>
                      </a:r>
                      <a:endParaRPr lang="en-US" sz="1600" b="0" i="0" u="sng" strike="noStrike" dirty="0">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none" strike="noStrike" dirty="0">
                          <a:effectLst/>
                        </a:rPr>
                        <a:t>Studies real apps to surface common implementation mistakes (poor replay protection, exposed endpoints, insecure storage).</a:t>
                      </a:r>
                      <a:endParaRPr lang="en-US" sz="1600" b="0"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sng" strike="noStrike" dirty="0">
                          <a:effectLst/>
                          <a:hlinkClick r:id="rId3" tooltip="Identifying Implementation Flaws of SMS OTP Authentication"/>
                        </a:rPr>
                        <a:t>Gap: provide a checklist / hardened library and migration plan (SMS → push OTP / authenticator apps / passkeys) and quantify reduction in incidents. (IEEE Computer Society)</a:t>
                      </a:r>
                      <a:endParaRPr lang="en-US" sz="1600" b="0" i="0" u="sng" strike="noStrike" dirty="0">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6961873"/>
                  </a:ext>
                </a:extLst>
              </a:tr>
              <a:tr h="1660684">
                <a:tc>
                  <a:txBody>
                    <a:bodyPr/>
                    <a:lstStyle/>
                    <a:p>
                      <a:pPr algn="ctr" fontAlgn="ctr">
                        <a:buNone/>
                      </a:pPr>
                      <a:r>
                        <a:rPr lang="en-IN" sz="1600" u="none" strike="noStrike">
                          <a:effectLst/>
                        </a:rPr>
                        <a:t>5</a:t>
                      </a:r>
                      <a:endParaRPr lang="en-IN" sz="1600" b="0" i="0" u="none" strike="noStrike">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sng" strike="noStrike">
                          <a:effectLst/>
                          <a:hlinkClick r:id="rId4" tooltip="A Review of Password-less User Authentication Schemes."/>
                        </a:rPr>
                        <a:t>A Review of Password-less User Authentication Schemes — arXiv (Dec 2023). (arXiv)</a:t>
                      </a:r>
                      <a:endParaRPr lang="en-US" sz="1600" b="0" i="0" u="sng" strike="noStrike">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600" u="none" strike="noStrike">
                          <a:effectLst/>
                        </a:rPr>
                        <a:t>Wide literature survey on passwordless methods (FIDO2/passkeys, OTPless push, device-based, ABE etc.), comparing security &amp; usability.</a:t>
                      </a:r>
                      <a:endParaRPr lang="en-IN" sz="1600" b="0" i="0" u="none" strike="noStrike">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600" u="sng" strike="noStrike" dirty="0">
                          <a:effectLst/>
                          <a:hlinkClick r:id="rId4" tooltip="A Review of Password-less User Authentication Schemes."/>
                        </a:rPr>
                        <a:t>Survey highlights fragmentation and interoperability issues — gap: experimental comparisons (security + UX + deployment cost) of passkeys vs OTP vs password+2FA across real web apps. (</a:t>
                      </a:r>
                      <a:r>
                        <a:rPr lang="en-IN" sz="1600" u="sng" strike="noStrike" dirty="0" err="1">
                          <a:effectLst/>
                          <a:hlinkClick r:id="rId4" tooltip="A Review of Password-less User Authentication Schemes."/>
                        </a:rPr>
                        <a:t>arXiv</a:t>
                      </a:r>
                      <a:r>
                        <a:rPr lang="en-IN" sz="1600" u="sng" strike="noStrike" dirty="0">
                          <a:effectLst/>
                          <a:hlinkClick r:id="rId4" tooltip="A Review of Password-less User Authentication Schemes."/>
                        </a:rPr>
                        <a:t>)</a:t>
                      </a:r>
                      <a:endParaRPr lang="en-IN" sz="1600" b="0" i="0" u="sng" strike="noStrike" dirty="0">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753987"/>
                  </a:ext>
                </a:extLst>
              </a:tr>
            </a:tbl>
          </a:graphicData>
        </a:graphic>
      </p:graphicFrame>
    </p:spTree>
    <p:extLst>
      <p:ext uri="{BB962C8B-B14F-4D97-AF65-F5344CB8AC3E}">
        <p14:creationId xmlns:p14="http://schemas.microsoft.com/office/powerpoint/2010/main" val="2790623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0E972-A608-95DC-AD52-BD51FB7A86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16967-0C26-B841-AA39-AC1AB760AD60}"/>
              </a:ext>
            </a:extLst>
          </p:cNvPr>
          <p:cNvSpPr>
            <a:spLocks noGrp="1"/>
          </p:cNvSpPr>
          <p:nvPr>
            <p:ph type="title"/>
          </p:nvPr>
        </p:nvSpPr>
        <p:spPr>
          <a:xfrm>
            <a:off x="390397" y="293116"/>
            <a:ext cx="10756393" cy="640080"/>
          </a:xfrm>
        </p:spPr>
        <p:txBody>
          <a:bodyPr>
            <a:noAutofit/>
          </a:bodyPr>
          <a:lstStyle/>
          <a:p>
            <a:pPr lvl="0"/>
            <a:r>
              <a:rPr lang="en-US" sz="32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Literature Survey</a:t>
            </a:r>
          </a:p>
        </p:txBody>
      </p:sp>
      <p:sp>
        <p:nvSpPr>
          <p:cNvPr id="24" name="Title 1">
            <a:extLst>
              <a:ext uri="{FF2B5EF4-FFF2-40B4-BE49-F238E27FC236}">
                <a16:creationId xmlns:a16="http://schemas.microsoft.com/office/drawing/2014/main" id="{8C50C4CE-851E-DE9B-5A33-48CFE5F92D56}"/>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graphicFrame>
        <p:nvGraphicFramePr>
          <p:cNvPr id="3" name="Table 2">
            <a:extLst>
              <a:ext uri="{FF2B5EF4-FFF2-40B4-BE49-F238E27FC236}">
                <a16:creationId xmlns:a16="http://schemas.microsoft.com/office/drawing/2014/main" id="{706DE4B3-5886-95E9-BE59-9E3030D81430}"/>
              </a:ext>
            </a:extLst>
          </p:cNvPr>
          <p:cNvGraphicFramePr>
            <a:graphicFrameLocks noGrp="1"/>
          </p:cNvGraphicFramePr>
          <p:nvPr>
            <p:extLst>
              <p:ext uri="{D42A27DB-BD31-4B8C-83A1-F6EECF244321}">
                <p14:modId xmlns:p14="http://schemas.microsoft.com/office/powerpoint/2010/main" val="1011717835"/>
              </p:ext>
            </p:extLst>
          </p:nvPr>
        </p:nvGraphicFramePr>
        <p:xfrm>
          <a:off x="390396" y="1317943"/>
          <a:ext cx="11485650" cy="4503737"/>
        </p:xfrm>
        <a:graphic>
          <a:graphicData uri="http://schemas.openxmlformats.org/drawingml/2006/table">
            <a:tbl>
              <a:tblPr>
                <a:tableStyleId>{5C22544A-7EE6-4342-B048-85BDC9FD1C3A}</a:tableStyleId>
              </a:tblPr>
              <a:tblGrid>
                <a:gridCol w="1359736">
                  <a:extLst>
                    <a:ext uri="{9D8B030D-6E8A-4147-A177-3AD203B41FA5}">
                      <a16:colId xmlns:a16="http://schemas.microsoft.com/office/drawing/2014/main" val="1501908538"/>
                    </a:ext>
                  </a:extLst>
                </a:gridCol>
                <a:gridCol w="3296330">
                  <a:extLst>
                    <a:ext uri="{9D8B030D-6E8A-4147-A177-3AD203B41FA5}">
                      <a16:colId xmlns:a16="http://schemas.microsoft.com/office/drawing/2014/main" val="1247446732"/>
                    </a:ext>
                  </a:extLst>
                </a:gridCol>
                <a:gridCol w="3512652">
                  <a:extLst>
                    <a:ext uri="{9D8B030D-6E8A-4147-A177-3AD203B41FA5}">
                      <a16:colId xmlns:a16="http://schemas.microsoft.com/office/drawing/2014/main" val="203472534"/>
                    </a:ext>
                  </a:extLst>
                </a:gridCol>
                <a:gridCol w="3316932">
                  <a:extLst>
                    <a:ext uri="{9D8B030D-6E8A-4147-A177-3AD203B41FA5}">
                      <a16:colId xmlns:a16="http://schemas.microsoft.com/office/drawing/2014/main" val="106479775"/>
                    </a:ext>
                  </a:extLst>
                </a:gridCol>
              </a:tblGrid>
              <a:tr h="2627180">
                <a:tc>
                  <a:txBody>
                    <a:bodyPr/>
                    <a:lstStyle/>
                    <a:p>
                      <a:pPr algn="ctr" fontAlgn="ctr">
                        <a:buNone/>
                      </a:pPr>
                      <a:r>
                        <a:rPr lang="en-IN" sz="1600" u="none" strike="noStrike" dirty="0">
                          <a:effectLst/>
                        </a:rPr>
                        <a:t>6</a:t>
                      </a:r>
                      <a:endParaRPr lang="en-IN" sz="1600" b="0"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sng" strike="noStrike">
                          <a:effectLst/>
                          <a:hlinkClick r:id="rId2" tooltip="The utility of behavioral biometrics in user authentication ..."/>
                        </a:rPr>
                        <a:t>The utility of behavioral biometrics in user authentication — scoping review (Finnegan et al., 2024). (PMC)</a:t>
                      </a:r>
                      <a:endParaRPr lang="en-US" sz="1600" b="0" i="0" u="sng" strike="noStrike">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none" strike="noStrike" dirty="0">
                          <a:effectLst/>
                        </a:rPr>
                        <a:t>Reviews keystroke dynamics, mouse/gesture, gait and other behavioral biometrics for continuous or step-up authentication.</a:t>
                      </a:r>
                      <a:endParaRPr lang="en-US" sz="1600" b="0" i="0" u="none" strike="noStrike" dirty="0">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600" u="sng" strike="noStrike">
                          <a:effectLst/>
                          <a:hlinkClick r:id="rId2" tooltip="The utility of behavioral biometrics in user authentication ..."/>
                        </a:rPr>
                        <a:t>Behavioral biometrics help continuous/auth risk scoring but raise false-positive/usability &amp; privacy questions — gap: integrate behavioral scoring with OTP/2FA adaptively and measure attacker-resistance and privacy-preserving options. (PMC)</a:t>
                      </a:r>
                      <a:endParaRPr lang="en-IN" sz="1600" b="0" i="0" u="sng" strike="noStrike">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547031"/>
                  </a:ext>
                </a:extLst>
              </a:tr>
              <a:tr h="1876557">
                <a:tc>
                  <a:txBody>
                    <a:bodyPr/>
                    <a:lstStyle/>
                    <a:p>
                      <a:pPr algn="ctr" fontAlgn="ctr">
                        <a:buNone/>
                      </a:pPr>
                      <a:r>
                        <a:rPr lang="en-IN" sz="1600" u="none" strike="noStrike">
                          <a:effectLst/>
                        </a:rPr>
                        <a:t>7</a:t>
                      </a:r>
                      <a:endParaRPr lang="en-IN" sz="1600" b="0" i="0" u="none" strike="noStrike">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600" u="sng" strike="noStrike">
                          <a:effectLst/>
                          <a:hlinkClick r:id="rId3" tooltip="Passwordless Authentication Using a Combination of ..."/>
                        </a:rPr>
                        <a:t>Passwordless Authentication Using a Combination of Cryptography, Steganography &amp; Biometrics — MDPI Sensors/Networks (2024). (MDPI)</a:t>
                      </a:r>
                      <a:endParaRPr lang="en-IN" sz="1600" b="0" i="0" u="sng" strike="noStrike">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600" u="none" strike="noStrike">
                          <a:effectLst/>
                        </a:rPr>
                        <a:t>Hybrid passwordless scheme combining asymmetric keys, steganographic channels and physiological/behavioural biometrics for web login.</a:t>
                      </a:r>
                      <a:endParaRPr lang="en-IN" sz="1600" b="0" i="0" u="none" strike="noStrike">
                        <a:solidFill>
                          <a:srgbClr val="000000"/>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sng" strike="noStrike" dirty="0">
                          <a:effectLst/>
                          <a:hlinkClick r:id="rId3" tooltip="Passwordless Authentication Using a Combination of ..."/>
                        </a:rPr>
                        <a:t>Novel but complex — gap: performance, cross-device portability, accessibility and deployment barriers remain; test integration with </a:t>
                      </a:r>
                      <a:r>
                        <a:rPr lang="en-US" sz="1600" u="sng" strike="noStrike" dirty="0" err="1">
                          <a:effectLst/>
                          <a:hlinkClick r:id="rId3" tooltip="Passwordless Authentication Using a Combination of ..."/>
                        </a:rPr>
                        <a:t>WebAuthn</a:t>
                      </a:r>
                      <a:r>
                        <a:rPr lang="en-US" sz="1600" u="sng" strike="noStrike" dirty="0">
                          <a:effectLst/>
                          <a:hlinkClick r:id="rId3" tooltip="Passwordless Authentication Using a Combination of ..."/>
                        </a:rPr>
                        <a:t>/passkeys for realistic web sites. (MDPI)</a:t>
                      </a:r>
                      <a:endParaRPr lang="en-US" sz="1600" b="0" i="0" u="sng" strike="noStrike" dirty="0">
                        <a:solidFill>
                          <a:srgbClr val="0563C1"/>
                        </a:solidFill>
                        <a:effectLst/>
                        <a:latin typeface="Calibri" panose="020F0502020204030204" pitchFamily="34" charset="0"/>
                      </a:endParaRPr>
                    </a:p>
                  </a:txBody>
                  <a:tcPr marL="4716" marR="4716" marT="47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146679"/>
                  </a:ext>
                </a:extLst>
              </a:tr>
            </a:tbl>
          </a:graphicData>
        </a:graphic>
      </p:graphicFrame>
    </p:spTree>
    <p:extLst>
      <p:ext uri="{BB962C8B-B14F-4D97-AF65-F5344CB8AC3E}">
        <p14:creationId xmlns:p14="http://schemas.microsoft.com/office/powerpoint/2010/main" val="1941967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05D7-4A83-921B-ABC0-8E93EAEC0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D1A27-7527-DDB3-A756-80EE87B6E8F5}"/>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Limitations</a:t>
            </a:r>
          </a:p>
        </p:txBody>
      </p:sp>
      <p:sp>
        <p:nvSpPr>
          <p:cNvPr id="24" name="Title 1">
            <a:extLst>
              <a:ext uri="{FF2B5EF4-FFF2-40B4-BE49-F238E27FC236}">
                <a16:creationId xmlns:a16="http://schemas.microsoft.com/office/drawing/2014/main" id="{E1171CC2-3EE0-606E-6856-C94A727DDA04}"/>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1641495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0756393" cy="640080"/>
          </a:xfrm>
        </p:spPr>
        <p:txBody>
          <a:bodyPr>
            <a:noAutofit/>
          </a:bodyPr>
          <a:lstStyle/>
          <a:p>
            <a:pPr lvl="0"/>
            <a:r>
              <a:rPr lang="en-US" sz="3200" b="1" dirty="0">
                <a:latin typeface="Segoe UI Light" panose="020B0502040204020203" pitchFamily="34" charset="0"/>
                <a:cs typeface="Segoe UI Light" panose="020B0502040204020203" pitchFamily="34" charset="0"/>
              </a:rPr>
              <a:t>Limitations of Existing System</a:t>
            </a:r>
          </a:p>
        </p:txBody>
      </p:sp>
      <p:sp>
        <p:nvSpPr>
          <p:cNvPr id="24" name="Title 1"/>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3" name="TextBox 2">
            <a:extLst>
              <a:ext uri="{FF2B5EF4-FFF2-40B4-BE49-F238E27FC236}">
                <a16:creationId xmlns:a16="http://schemas.microsoft.com/office/drawing/2014/main" id="{CC1D26FE-C787-C56E-34BE-3EB97E4A7B71}"/>
              </a:ext>
            </a:extLst>
          </p:cNvPr>
          <p:cNvSpPr txBox="1"/>
          <p:nvPr/>
        </p:nvSpPr>
        <p:spPr>
          <a:xfrm>
            <a:off x="521207" y="1418825"/>
            <a:ext cx="10263432" cy="2120068"/>
          </a:xfrm>
          <a:prstGeom prst="rect">
            <a:avLst/>
          </a:prstGeom>
          <a:noFill/>
        </p:spPr>
        <p:txBody>
          <a:bodyPr wrap="square">
            <a:spAutoFit/>
          </a:bodyPr>
          <a:lstStyle/>
          <a:p>
            <a:pPr marL="426720" lvl="1" indent="-342900" algn="just">
              <a:lnSpc>
                <a:spcPct val="150000"/>
              </a:lnSpc>
              <a:buAutoNum type="arabicPeriod"/>
            </a:pPr>
            <a:r>
              <a:rPr lang="en-US" altLang="en-US" dirty="0">
                <a:latin typeface="Times New Roman" panose="02020603050405020304" pitchFamily="18" charset="0"/>
                <a:cs typeface="Times New Roman" panose="02020603050405020304" pitchFamily="18" charset="0"/>
              </a:rPr>
              <a:t>Weak Passwords</a:t>
            </a:r>
          </a:p>
          <a:p>
            <a:pPr marL="426720" lvl="1" indent="-342900" algn="just">
              <a:lnSpc>
                <a:spcPct val="150000"/>
              </a:lnSpc>
              <a:buAutoNum type="arabicPeriod"/>
            </a:pPr>
            <a:r>
              <a:rPr lang="en-US" altLang="en-US" dirty="0">
                <a:latin typeface="Times New Roman" panose="02020603050405020304" pitchFamily="18" charset="0"/>
                <a:cs typeface="Times New Roman" panose="02020603050405020304" pitchFamily="18" charset="0"/>
              </a:rPr>
              <a:t>User’s Reuse Passwords</a:t>
            </a:r>
          </a:p>
          <a:p>
            <a:pPr marL="426720" lvl="1" indent="-342900" algn="just">
              <a:lnSpc>
                <a:spcPct val="150000"/>
              </a:lnSpc>
              <a:buAutoNum type="arabicPeriod"/>
            </a:pPr>
            <a:r>
              <a:rPr lang="en-US" altLang="en-US" sz="1800" dirty="0">
                <a:latin typeface="Times New Roman" panose="02020603050405020304" pitchFamily="18" charset="0"/>
                <a:cs typeface="Times New Roman" panose="02020603050405020304" pitchFamily="18" charset="0"/>
              </a:rPr>
              <a:t>Phishing Attacks</a:t>
            </a:r>
          </a:p>
          <a:p>
            <a:pPr marL="426720" lvl="1" indent="-342900" algn="just">
              <a:lnSpc>
                <a:spcPct val="150000"/>
              </a:lnSpc>
              <a:buAutoNum type="arabicPeriod"/>
            </a:pPr>
            <a:r>
              <a:rPr lang="en-US" altLang="en-US" sz="1800" dirty="0">
                <a:latin typeface="Times New Roman" panose="02020603050405020304" pitchFamily="18" charset="0"/>
                <a:cs typeface="Times New Roman" panose="02020603050405020304" pitchFamily="18" charset="0"/>
              </a:rPr>
              <a:t>Brute Forcing</a:t>
            </a:r>
          </a:p>
          <a:p>
            <a:pPr marL="426720" lvl="1" indent="-342900" algn="just">
              <a:lnSpc>
                <a:spcPct val="150000"/>
              </a:lnSpc>
              <a:buAutoNum type="arabicPeriod"/>
            </a:pPr>
            <a:r>
              <a:rPr lang="en-US" altLang="en-US" dirty="0">
                <a:latin typeface="Times New Roman" panose="02020603050405020304" pitchFamily="18" charset="0"/>
                <a:cs typeface="Times New Roman" panose="02020603050405020304" pitchFamily="18" charset="0"/>
              </a:rPr>
              <a:t>Lack of Strong </a:t>
            </a:r>
            <a:r>
              <a:rPr lang="en-US" altLang="en-US" dirty="0" err="1">
                <a:latin typeface="Times New Roman" panose="02020603050405020304" pitchFamily="18" charset="0"/>
                <a:cs typeface="Times New Roman" panose="02020603050405020304" pitchFamily="18" charset="0"/>
              </a:rPr>
              <a:t>Identiy</a:t>
            </a:r>
            <a:r>
              <a:rPr lang="en-US" altLang="en-US" dirty="0">
                <a:latin typeface="Times New Roman" panose="02020603050405020304" pitchFamily="18" charset="0"/>
                <a:cs typeface="Times New Roman" panose="02020603050405020304" pitchFamily="18" charset="0"/>
              </a:rPr>
              <a:t> Verification </a:t>
            </a:r>
            <a:r>
              <a:rPr lang="en-US" altLang="en-US" dirty="0" err="1">
                <a:latin typeface="Times New Roman" panose="02020603050405020304" pitchFamily="18" charset="0"/>
                <a:cs typeface="Times New Roman" panose="02020603050405020304" pitchFamily="18" charset="0"/>
              </a:rPr>
              <a:t>etc</a:t>
            </a:r>
            <a:endParaRPr lang="en-US" altLang="en-US" dirty="0">
              <a:latin typeface="Times New Roman" panose="02020603050405020304" pitchFamily="18" charset="0"/>
              <a:cs typeface="Times New Roman" panose="02020603050405020304" pitchFamily="18" charset="0"/>
            </a:endParaRPr>
          </a:p>
        </p:txBody>
      </p:sp>
      <p:pic>
        <p:nvPicPr>
          <p:cNvPr id="5" name="Picture 2" descr="Anatomy of a hack: even your 'complicated' password is easy to crack | WIRED">
            <a:extLst>
              <a:ext uri="{FF2B5EF4-FFF2-40B4-BE49-F238E27FC236}">
                <a16:creationId xmlns:a16="http://schemas.microsoft.com/office/drawing/2014/main" id="{11F60084-38ED-8666-A500-C3A7BE934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2504" y="1418825"/>
            <a:ext cx="5821979" cy="38825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4108-D9F9-7A46-DBBE-69D50F993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C0A04-7B3A-17FD-E373-05F99BD85666}"/>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Problem Statement</a:t>
            </a:r>
          </a:p>
        </p:txBody>
      </p:sp>
      <p:sp>
        <p:nvSpPr>
          <p:cNvPr id="24" name="Title 1">
            <a:extLst>
              <a:ext uri="{FF2B5EF4-FFF2-40B4-BE49-F238E27FC236}">
                <a16:creationId xmlns:a16="http://schemas.microsoft.com/office/drawing/2014/main" id="{FAECC19D-7754-3B95-B0D2-F4FE4993446E}"/>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233426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0756393" cy="640080"/>
          </a:xfrm>
        </p:spPr>
        <p:txBody>
          <a:bodyPr>
            <a:noAutofit/>
          </a:bodyPr>
          <a:lstStyle/>
          <a:p>
            <a:pPr lvl="0"/>
            <a:r>
              <a:rPr lang="en-US" sz="3200" b="1" dirty="0">
                <a:latin typeface="Segoe UI Light" panose="020B0502040204020203" pitchFamily="34" charset="0"/>
                <a:cs typeface="Segoe UI Light" panose="020B0502040204020203" pitchFamily="34" charset="0"/>
              </a:rPr>
              <a:t>Problem Statement</a:t>
            </a:r>
          </a:p>
        </p:txBody>
      </p:sp>
      <p:sp>
        <p:nvSpPr>
          <p:cNvPr id="24" name="Title 1"/>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6" name="TextBox 5"/>
          <p:cNvSpPr txBox="1"/>
          <p:nvPr/>
        </p:nvSpPr>
        <p:spPr>
          <a:xfrm>
            <a:off x="521207" y="1916269"/>
            <a:ext cx="6225033" cy="2540888"/>
          </a:xfrm>
          <a:prstGeom prst="rect">
            <a:avLst/>
          </a:prstGeom>
          <a:noFill/>
        </p:spPr>
        <p:txBody>
          <a:bodyPr wrap="square" rtlCol="0">
            <a:spAutoFit/>
          </a:bodyPr>
          <a:lstStyle/>
          <a:p>
            <a:pPr>
              <a:lnSpc>
                <a:spcPct val="150000"/>
              </a:lnSpc>
            </a:pPr>
            <a:r>
              <a:rPr lang="en-US" dirty="0"/>
              <a:t>With increasing digitalization, secure user authentication and authorization have become essential. However, existing systems lack major advancements and face vulnerabilities, making them susceptible to security breaches. Gridlock aims to develop a unique and robust grid-based authentication system to address these limitations and enhance user security.</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DDBF32D-29F0-752B-4F2D-74EB99F489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5595" y="1442357"/>
            <a:ext cx="3973285" cy="39732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BA78F-AE65-9B88-4F03-AEABC38D5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DABCA-20A9-707F-16E0-8296BC7A67A3}"/>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Proposed Methodology</a:t>
            </a:r>
          </a:p>
        </p:txBody>
      </p:sp>
      <p:sp>
        <p:nvSpPr>
          <p:cNvPr id="24" name="Title 1">
            <a:extLst>
              <a:ext uri="{FF2B5EF4-FFF2-40B4-BE49-F238E27FC236}">
                <a16:creationId xmlns:a16="http://schemas.microsoft.com/office/drawing/2014/main" id="{CA88AFED-D7EF-147C-78A4-B02687848814}"/>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4206579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B89BCB-A228-7D35-BE3F-5DB2DD38B183}"/>
              </a:ext>
            </a:extLst>
          </p:cNvPr>
          <p:cNvPicPr>
            <a:picLocks noChangeAspect="1"/>
          </p:cNvPicPr>
          <p:nvPr/>
        </p:nvPicPr>
        <p:blipFill>
          <a:blip r:embed="rId2"/>
          <a:stretch>
            <a:fillRect/>
          </a:stretch>
        </p:blipFill>
        <p:spPr>
          <a:xfrm>
            <a:off x="619760" y="289284"/>
            <a:ext cx="3738880" cy="6116871"/>
          </a:xfrm>
          <a:prstGeom prst="rect">
            <a:avLst/>
          </a:prstGeom>
        </p:spPr>
      </p:pic>
      <p:pic>
        <p:nvPicPr>
          <p:cNvPr id="5" name="Picture 4">
            <a:extLst>
              <a:ext uri="{FF2B5EF4-FFF2-40B4-BE49-F238E27FC236}">
                <a16:creationId xmlns:a16="http://schemas.microsoft.com/office/drawing/2014/main" id="{7481E8B3-8BAB-9631-064A-2D6887E5BCA4}"/>
              </a:ext>
            </a:extLst>
          </p:cNvPr>
          <p:cNvPicPr>
            <a:picLocks noChangeAspect="1"/>
          </p:cNvPicPr>
          <p:nvPr/>
        </p:nvPicPr>
        <p:blipFill>
          <a:blip r:embed="rId3"/>
          <a:stretch>
            <a:fillRect/>
          </a:stretch>
        </p:blipFill>
        <p:spPr>
          <a:xfrm>
            <a:off x="5907975" y="370563"/>
            <a:ext cx="5735385" cy="6116871"/>
          </a:xfrm>
          <a:prstGeom prst="rect">
            <a:avLst/>
          </a:prstGeom>
        </p:spPr>
      </p:pic>
    </p:spTree>
    <p:extLst>
      <p:ext uri="{BB962C8B-B14F-4D97-AF65-F5344CB8AC3E}">
        <p14:creationId xmlns:p14="http://schemas.microsoft.com/office/powerpoint/2010/main" val="2494551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9E4CE-1CC5-3E1C-60BE-CC8E4F582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D3B39-253E-DD17-9A61-F63602994BB4}"/>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System Design</a:t>
            </a:r>
          </a:p>
        </p:txBody>
      </p:sp>
      <p:sp>
        <p:nvSpPr>
          <p:cNvPr id="24" name="Title 1">
            <a:extLst>
              <a:ext uri="{FF2B5EF4-FFF2-40B4-BE49-F238E27FC236}">
                <a16:creationId xmlns:a16="http://schemas.microsoft.com/office/drawing/2014/main" id="{4220AAAB-F1F7-7D5A-CA1A-08679B3E0A78}"/>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3909177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5466B-9572-24CF-21C5-82C2E30D6552}"/>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5346B728-57A9-5AED-5846-E029FEA56782}"/>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pic>
        <p:nvPicPr>
          <p:cNvPr id="6" name="Picture 5">
            <a:extLst>
              <a:ext uri="{FF2B5EF4-FFF2-40B4-BE49-F238E27FC236}">
                <a16:creationId xmlns:a16="http://schemas.microsoft.com/office/drawing/2014/main" id="{14247F08-2986-FD2D-5903-28928B154AD7}"/>
              </a:ext>
            </a:extLst>
          </p:cNvPr>
          <p:cNvPicPr>
            <a:picLocks noChangeAspect="1"/>
          </p:cNvPicPr>
          <p:nvPr/>
        </p:nvPicPr>
        <p:blipFill>
          <a:blip r:embed="rId2"/>
          <a:stretch>
            <a:fillRect/>
          </a:stretch>
        </p:blipFill>
        <p:spPr>
          <a:xfrm>
            <a:off x="0" y="0"/>
            <a:ext cx="12192000" cy="6604000"/>
          </a:xfrm>
          <a:prstGeom prst="rect">
            <a:avLst/>
          </a:prstGeom>
        </p:spPr>
      </p:pic>
    </p:spTree>
    <p:extLst>
      <p:ext uri="{BB962C8B-B14F-4D97-AF65-F5344CB8AC3E}">
        <p14:creationId xmlns:p14="http://schemas.microsoft.com/office/powerpoint/2010/main" val="2662302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DF96E-4624-E9E9-A626-05CF01E23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E6EA6-845B-E1C8-9865-1E7A3A3DC62C}"/>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Roadmap</a:t>
            </a:r>
          </a:p>
        </p:txBody>
      </p:sp>
      <p:sp>
        <p:nvSpPr>
          <p:cNvPr id="24" name="Title 1">
            <a:extLst>
              <a:ext uri="{FF2B5EF4-FFF2-40B4-BE49-F238E27FC236}">
                <a16:creationId xmlns:a16="http://schemas.microsoft.com/office/drawing/2014/main" id="{039ECD26-DF02-AE1F-DD63-AFB551FCCB3A}"/>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523543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32ED-321A-5C9B-A325-1D6B6AB25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C0924-50EC-0802-9746-A0759BC454EC}"/>
              </a:ext>
            </a:extLst>
          </p:cNvPr>
          <p:cNvSpPr>
            <a:spLocks noGrp="1"/>
          </p:cNvSpPr>
          <p:nvPr>
            <p:ph type="title"/>
          </p:nvPr>
        </p:nvSpPr>
        <p:spPr>
          <a:xfrm>
            <a:off x="521207" y="448056"/>
            <a:ext cx="10756393" cy="640080"/>
          </a:xfrm>
        </p:spPr>
        <p:txBody>
          <a:bodyPr>
            <a:noAutofit/>
          </a:bodyPr>
          <a:lstStyle/>
          <a:p>
            <a:pPr lvl="0"/>
            <a:r>
              <a:rPr lang="en-US" sz="3200" b="1" dirty="0">
                <a:latin typeface="Segoe UI Light" panose="020B0502040204020203" pitchFamily="34" charset="0"/>
                <a:cs typeface="Segoe UI Light" panose="020B0502040204020203" pitchFamily="34" charset="0"/>
              </a:rPr>
              <a:t> Roadmap</a:t>
            </a:r>
          </a:p>
        </p:txBody>
      </p:sp>
      <p:sp>
        <p:nvSpPr>
          <p:cNvPr id="24" name="Title 1">
            <a:extLst>
              <a:ext uri="{FF2B5EF4-FFF2-40B4-BE49-F238E27FC236}">
                <a16:creationId xmlns:a16="http://schemas.microsoft.com/office/drawing/2014/main" id="{A718FEE2-7523-AA7E-6FCB-E9FF0D4946DD}"/>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68" name="TextBox 67">
            <a:extLst>
              <a:ext uri="{FF2B5EF4-FFF2-40B4-BE49-F238E27FC236}">
                <a16:creationId xmlns:a16="http://schemas.microsoft.com/office/drawing/2014/main" id="{1F925719-806E-44F6-C766-59A9F55F98BD}"/>
              </a:ext>
            </a:extLst>
          </p:cNvPr>
          <p:cNvSpPr txBox="1"/>
          <p:nvPr/>
        </p:nvSpPr>
        <p:spPr>
          <a:xfrm>
            <a:off x="814209" y="1213778"/>
            <a:ext cx="5193302" cy="707886"/>
          </a:xfrm>
          <a:prstGeom prst="rect">
            <a:avLst/>
          </a:prstGeom>
          <a:noFill/>
        </p:spPr>
        <p:txBody>
          <a:bodyPr wrap="square" rtlCol="0">
            <a:spAutoFit/>
          </a:bodyPr>
          <a:lstStyle/>
          <a:p>
            <a:pPr algn="just"/>
            <a:endParaRPr lang="en-US" altLang="en-US" sz="2000" dirty="0"/>
          </a:p>
          <a:p>
            <a:pPr marL="342900" indent="-342900" algn="just">
              <a:buFont typeface="Arial" panose="020B0604020202020204" pitchFamily="34" charset="0"/>
              <a:buChar char="•"/>
            </a:pPr>
            <a:endParaRPr lang="en-US" altLang="en-US" sz="2000" dirty="0"/>
          </a:p>
        </p:txBody>
      </p:sp>
      <p:sp>
        <p:nvSpPr>
          <p:cNvPr id="3" name="AutoShape 2">
            <a:extLst>
              <a:ext uri="{FF2B5EF4-FFF2-40B4-BE49-F238E27FC236}">
                <a16:creationId xmlns:a16="http://schemas.microsoft.com/office/drawing/2014/main" id="{0B8EEA96-6979-35B5-FF6F-F864C0031CC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288FD8F2-BB4D-6660-B33C-398E30535E34}"/>
              </a:ext>
            </a:extLst>
          </p:cNvPr>
          <p:cNvPicPr>
            <a:picLocks noChangeAspect="1"/>
          </p:cNvPicPr>
          <p:nvPr/>
        </p:nvPicPr>
        <p:blipFill>
          <a:blip r:embed="rId2"/>
          <a:srcRect/>
          <a:stretch/>
        </p:blipFill>
        <p:spPr>
          <a:xfrm>
            <a:off x="1991080" y="1239178"/>
            <a:ext cx="7816645" cy="4519128"/>
          </a:xfrm>
          <a:prstGeom prst="rect">
            <a:avLst/>
          </a:prstGeom>
        </p:spPr>
      </p:pic>
    </p:spTree>
    <p:extLst>
      <p:ext uri="{BB962C8B-B14F-4D97-AF65-F5344CB8AC3E}">
        <p14:creationId xmlns:p14="http://schemas.microsoft.com/office/powerpoint/2010/main" val="1812771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296FD-7D12-049F-4139-142854755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955C3-8542-1D32-8F05-17D7BD361D72}"/>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Implementation Details</a:t>
            </a:r>
          </a:p>
        </p:txBody>
      </p:sp>
      <p:sp>
        <p:nvSpPr>
          <p:cNvPr id="24" name="Title 1">
            <a:extLst>
              <a:ext uri="{FF2B5EF4-FFF2-40B4-BE49-F238E27FC236}">
                <a16:creationId xmlns:a16="http://schemas.microsoft.com/office/drawing/2014/main" id="{7B59A896-A9B0-9602-E59D-F07EE3166923}"/>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1458991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0756393" cy="640080"/>
          </a:xfrm>
        </p:spPr>
        <p:txBody>
          <a:bodyPr>
            <a:noAutofit/>
          </a:bodyPr>
          <a:lstStyle/>
          <a:p>
            <a:pPr lvl="0"/>
            <a:r>
              <a:rPr lang="en-US" sz="3200" b="1" dirty="0">
                <a:latin typeface="Segoe UI Light" panose="020B0502040204020203" pitchFamily="34" charset="0"/>
                <a:cs typeface="Segoe UI Light" panose="020B0502040204020203" pitchFamily="34" charset="0"/>
              </a:rPr>
              <a:t>Implementation Details</a:t>
            </a:r>
          </a:p>
        </p:txBody>
      </p:sp>
      <p:sp>
        <p:nvSpPr>
          <p:cNvPr id="24" name="Title 1"/>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68" name="TextBox 67"/>
          <p:cNvSpPr txBox="1"/>
          <p:nvPr/>
        </p:nvSpPr>
        <p:spPr>
          <a:xfrm>
            <a:off x="521208" y="1088136"/>
            <a:ext cx="6532736" cy="4661276"/>
          </a:xfrm>
          <a:prstGeom prst="rect">
            <a:avLst/>
          </a:prstGeom>
          <a:noFill/>
        </p:spPr>
        <p:txBody>
          <a:bodyPr wrap="square" rtlCol="0">
            <a:spAutoFit/>
          </a:bodyPr>
          <a:lstStyle/>
          <a:p>
            <a:pPr>
              <a:lnSpc>
                <a:spcPct val="150000"/>
              </a:lnSpc>
            </a:pPr>
            <a:r>
              <a:rPr lang="en-IN" sz="2000" b="1" dirty="0"/>
              <a:t>Software Tools:</a:t>
            </a:r>
            <a:endParaRPr lang="en-IN" sz="2000" dirty="0"/>
          </a:p>
          <a:p>
            <a:pPr>
              <a:lnSpc>
                <a:spcPct val="150000"/>
              </a:lnSpc>
            </a:pPr>
            <a:r>
              <a:rPr lang="en-IN" sz="2000" b="1" dirty="0"/>
              <a:t>Frontend</a:t>
            </a:r>
            <a:r>
              <a:rPr lang="en-IN" sz="2000" dirty="0"/>
              <a:t>: HTML, CSS, React (JavaScript) – for designing the user interface.</a:t>
            </a:r>
          </a:p>
          <a:p>
            <a:pPr>
              <a:lnSpc>
                <a:spcPct val="150000"/>
              </a:lnSpc>
            </a:pPr>
            <a:r>
              <a:rPr lang="en-IN" sz="2000" b="1" dirty="0"/>
              <a:t>Backend</a:t>
            </a:r>
            <a:r>
              <a:rPr lang="en-IN" sz="2000" dirty="0"/>
              <a:t>: Express.js, </a:t>
            </a:r>
            <a:r>
              <a:rPr lang="en-IN" sz="2000" dirty="0" err="1"/>
              <a:t>Supabase</a:t>
            </a:r>
            <a:r>
              <a:rPr lang="en-IN" sz="2000" dirty="0"/>
              <a:t> for Database.</a:t>
            </a:r>
          </a:p>
          <a:p>
            <a:pPr>
              <a:lnSpc>
                <a:spcPct val="150000"/>
              </a:lnSpc>
            </a:pPr>
            <a:r>
              <a:rPr lang="en-IN" sz="2000" b="1" dirty="0"/>
              <a:t>Database</a:t>
            </a:r>
            <a:r>
              <a:rPr lang="en-IN" sz="2000" dirty="0"/>
              <a:t>: </a:t>
            </a:r>
            <a:r>
              <a:rPr lang="en-IN" sz="2000" dirty="0" err="1"/>
              <a:t>Supabase</a:t>
            </a:r>
            <a:r>
              <a:rPr lang="en-IN" sz="2000" dirty="0"/>
              <a:t>, A MySQL based database for storing user information.</a:t>
            </a:r>
          </a:p>
          <a:p>
            <a:pPr>
              <a:lnSpc>
                <a:spcPct val="150000"/>
              </a:lnSpc>
            </a:pPr>
            <a:r>
              <a:rPr lang="en-IN" sz="2000" b="1" dirty="0"/>
              <a:t>IDE</a:t>
            </a:r>
            <a:r>
              <a:rPr lang="en-IN" sz="2000" dirty="0"/>
              <a:t>: Visual Studio Code – used for coding and development.</a:t>
            </a:r>
          </a:p>
          <a:p>
            <a:pPr>
              <a:lnSpc>
                <a:spcPct val="150000"/>
              </a:lnSpc>
            </a:pPr>
            <a:r>
              <a:rPr lang="en-IN" sz="2000" b="1" dirty="0" err="1"/>
              <a:t>LocalHost</a:t>
            </a:r>
            <a:r>
              <a:rPr lang="en-IN" sz="2000" dirty="0"/>
              <a:t>: Local server for testing React and MySQL integration.</a:t>
            </a:r>
          </a:p>
          <a:p>
            <a:pPr>
              <a:lnSpc>
                <a:spcPct val="150000"/>
              </a:lnSpc>
            </a:pPr>
            <a:r>
              <a:rPr lang="en-IN" sz="2000" b="1" dirty="0"/>
              <a:t>Deployment:</a:t>
            </a:r>
            <a:r>
              <a:rPr lang="en-IN" sz="2000" dirty="0"/>
              <a:t> </a:t>
            </a:r>
            <a:r>
              <a:rPr lang="en-IN" sz="2000" dirty="0" err="1"/>
              <a:t>Vercel</a:t>
            </a:r>
            <a:r>
              <a:rPr lang="en-IN" sz="2000" dirty="0"/>
              <a:t> is used for deployment.</a:t>
            </a:r>
          </a:p>
        </p:txBody>
      </p:sp>
      <p:sp>
        <p:nvSpPr>
          <p:cNvPr id="3" name="TextBox 2">
            <a:extLst>
              <a:ext uri="{FF2B5EF4-FFF2-40B4-BE49-F238E27FC236}">
                <a16:creationId xmlns:a16="http://schemas.microsoft.com/office/drawing/2014/main" id="{255574D6-930D-6438-CBD9-578FDB3F73EF}"/>
              </a:ext>
            </a:extLst>
          </p:cNvPr>
          <p:cNvSpPr txBox="1"/>
          <p:nvPr/>
        </p:nvSpPr>
        <p:spPr>
          <a:xfrm>
            <a:off x="7053943" y="1251857"/>
            <a:ext cx="4430485" cy="2446824"/>
          </a:xfrm>
          <a:prstGeom prst="rect">
            <a:avLst/>
          </a:prstGeom>
          <a:noFill/>
        </p:spPr>
        <p:txBody>
          <a:bodyPr wrap="square" rtlCol="0">
            <a:spAutoFit/>
          </a:bodyPr>
          <a:lstStyle/>
          <a:p>
            <a:pPr>
              <a:lnSpc>
                <a:spcPct val="150000"/>
              </a:lnSpc>
            </a:pPr>
            <a:r>
              <a:rPr lang="en-IN" b="1" dirty="0"/>
              <a:t>Additional Components:</a:t>
            </a:r>
            <a:endParaRPr lang="en-IN" dirty="0"/>
          </a:p>
          <a:p>
            <a:pPr>
              <a:lnSpc>
                <a:spcPct val="150000"/>
              </a:lnSpc>
            </a:pPr>
            <a:r>
              <a:rPr lang="en-US" altLang="en-US" b="1" dirty="0">
                <a:latin typeface="Times New Roman" panose="02020603050405020304" pitchFamily="18" charset="0"/>
                <a:cs typeface="Times New Roman" panose="02020603050405020304" pitchFamily="18" charset="0"/>
              </a:rPr>
              <a:t>JSON Web Tokens (JWT) </a:t>
            </a:r>
            <a:r>
              <a:rPr lang="en-US" altLang="en-US" dirty="0">
                <a:latin typeface="Times New Roman" panose="02020603050405020304" pitchFamily="18" charset="0"/>
                <a:cs typeface="Times New Roman" panose="02020603050405020304" pitchFamily="18" charset="0"/>
              </a:rPr>
              <a:t>for secure data exchange</a:t>
            </a:r>
          </a:p>
          <a:p>
            <a:pPr>
              <a:lnSpc>
                <a:spcPct val="150000"/>
              </a:lnSpc>
            </a:pPr>
            <a:r>
              <a:rPr lang="en-US" altLang="en-US" dirty="0">
                <a:latin typeface="Times New Roman" panose="02020603050405020304" pitchFamily="18" charset="0"/>
                <a:cs typeface="Times New Roman" panose="02020603050405020304" pitchFamily="18" charset="0"/>
              </a:rPr>
              <a:t>Email + Phone OTP APIs for recovery</a:t>
            </a:r>
          </a:p>
          <a:p>
            <a:pPr>
              <a:lnSpc>
                <a:spcPct val="150000"/>
              </a:lnSpc>
            </a:pPr>
            <a:r>
              <a:rPr lang="en-US" altLang="en-US" dirty="0">
                <a:latin typeface="Times New Roman" panose="02020603050405020304" pitchFamily="18" charset="0"/>
                <a:cs typeface="Times New Roman" panose="02020603050405020304" pitchFamily="18" charset="0"/>
              </a:rPr>
              <a:t>Version control via GitHub</a:t>
            </a:r>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22F31-6B0A-1184-C105-4CBB833BF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548A0-38AC-53F1-467D-CBA41A7F56A8}"/>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Results</a:t>
            </a:r>
          </a:p>
        </p:txBody>
      </p:sp>
      <p:sp>
        <p:nvSpPr>
          <p:cNvPr id="24" name="Title 1">
            <a:extLst>
              <a:ext uri="{FF2B5EF4-FFF2-40B4-BE49-F238E27FC236}">
                <a16:creationId xmlns:a16="http://schemas.microsoft.com/office/drawing/2014/main" id="{18791DDC-FB1E-A524-5ED5-C833B62035A9}"/>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1621952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Segoe UI Light" panose="020B0502040204020203" pitchFamily="34" charset="0"/>
                <a:cs typeface="Segoe UI Light" panose="020B0502040204020203" pitchFamily="34" charset="0"/>
              </a:rPr>
              <a:t>Result Analysis</a:t>
            </a:r>
            <a:endParaRPr lang="en-IN" sz="3200" b="1" dirty="0">
              <a:latin typeface="Segoe UI Light" panose="020B0502040204020203" pitchFamily="34" charset="0"/>
              <a:cs typeface="Segoe UI Light" panose="020B0502040204020203" pitchFamily="34" charset="0"/>
            </a:endParaRPr>
          </a:p>
        </p:txBody>
      </p:sp>
      <p:sp>
        <p:nvSpPr>
          <p:cNvPr id="3" name="Content Placeholder 2"/>
          <p:cNvSpPr>
            <a:spLocks noGrp="1"/>
          </p:cNvSpPr>
          <p:nvPr>
            <p:ph sz="quarter" idx="10"/>
          </p:nvPr>
        </p:nvSpPr>
        <p:spPr>
          <a:xfrm>
            <a:off x="591094" y="1319779"/>
            <a:ext cx="10118510" cy="4719781"/>
          </a:xfrm>
        </p:spPr>
        <p:txBody>
          <a:bodyPr>
            <a:no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We have successfully created a grid based authentication having the following features.</a:t>
            </a:r>
          </a:p>
          <a:p>
            <a:pPr>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Grid based Authentication System</a:t>
            </a:r>
          </a:p>
          <a:p>
            <a:pPr>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Complete Session Management and Session Persistence</a:t>
            </a:r>
          </a:p>
          <a:p>
            <a:pPr>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Unique and Robot Password Recovery Mechanism, </a:t>
            </a:r>
            <a:r>
              <a:rPr lang="en-US" sz="2000" dirty="0" err="1">
                <a:latin typeface="Times New Roman" panose="02020603050405020304" pitchFamily="18" charset="0"/>
                <a:cs typeface="Times New Roman" panose="02020603050405020304" pitchFamily="18" charset="0"/>
              </a:rPr>
              <a:t>etc</a:t>
            </a:r>
            <a:endParaRPr lang="en-US" sz="2000" dirty="0">
              <a:latin typeface="Times New Roman" panose="02020603050405020304" pitchFamily="18" charset="0"/>
              <a:cs typeface="Times New Roman" panose="02020603050405020304" pitchFamily="18" charset="0"/>
            </a:endParaRPr>
          </a:p>
        </p:txBody>
      </p:sp>
      <p:sp>
        <p:nvSpPr>
          <p:cNvPr id="7" name="Title 1"/>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F13E4-C06B-B7B1-D1B3-E646B2A03C5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AB55854-5FC8-D2E4-CF1D-48F6E8ADA40D}"/>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6" name="Rectangle 1">
            <a:extLst>
              <a:ext uri="{FF2B5EF4-FFF2-40B4-BE49-F238E27FC236}">
                <a16:creationId xmlns:a16="http://schemas.microsoft.com/office/drawing/2014/main" id="{1FCE9B7C-2E1B-72F6-B361-33EED97D077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9" name="Picture 8">
            <a:extLst>
              <a:ext uri="{FF2B5EF4-FFF2-40B4-BE49-F238E27FC236}">
                <a16:creationId xmlns:a16="http://schemas.microsoft.com/office/drawing/2014/main" id="{8B8D774A-609D-97C8-EADB-CEEE1D944162}"/>
              </a:ext>
            </a:extLst>
          </p:cNvPr>
          <p:cNvPicPr>
            <a:picLocks noChangeAspect="1"/>
          </p:cNvPicPr>
          <p:nvPr/>
        </p:nvPicPr>
        <p:blipFill>
          <a:blip r:embed="rId2"/>
          <a:stretch>
            <a:fillRect/>
          </a:stretch>
        </p:blipFill>
        <p:spPr>
          <a:xfrm>
            <a:off x="519765" y="257186"/>
            <a:ext cx="5085118" cy="5782374"/>
          </a:xfrm>
          <a:prstGeom prst="rect">
            <a:avLst/>
          </a:prstGeom>
        </p:spPr>
      </p:pic>
      <p:pic>
        <p:nvPicPr>
          <p:cNvPr id="15" name="Picture 14">
            <a:extLst>
              <a:ext uri="{FF2B5EF4-FFF2-40B4-BE49-F238E27FC236}">
                <a16:creationId xmlns:a16="http://schemas.microsoft.com/office/drawing/2014/main" id="{97654162-A6E0-3D82-37AD-3414F54C2794}"/>
              </a:ext>
            </a:extLst>
          </p:cNvPr>
          <p:cNvPicPr>
            <a:picLocks noChangeAspect="1"/>
          </p:cNvPicPr>
          <p:nvPr/>
        </p:nvPicPr>
        <p:blipFill>
          <a:blip r:embed="rId3"/>
          <a:stretch>
            <a:fillRect/>
          </a:stretch>
        </p:blipFill>
        <p:spPr>
          <a:xfrm>
            <a:off x="6096000" y="384666"/>
            <a:ext cx="5497286" cy="5654894"/>
          </a:xfrm>
          <a:prstGeom prst="rect">
            <a:avLst/>
          </a:prstGeom>
        </p:spPr>
      </p:pic>
    </p:spTree>
    <p:extLst>
      <p:ext uri="{BB962C8B-B14F-4D97-AF65-F5344CB8AC3E}">
        <p14:creationId xmlns:p14="http://schemas.microsoft.com/office/powerpoint/2010/main" val="481991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2CF981-0AB8-21F5-B766-B12CB6F1662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328C101-93A2-2F0D-4852-047FB0A6B683}"/>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6" name="Rectangle 1">
            <a:extLst>
              <a:ext uri="{FF2B5EF4-FFF2-40B4-BE49-F238E27FC236}">
                <a16:creationId xmlns:a16="http://schemas.microsoft.com/office/drawing/2014/main" id="{E282753D-8D8D-6538-19FF-032F0C0CD40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3" name="Picture 12">
            <a:extLst>
              <a:ext uri="{FF2B5EF4-FFF2-40B4-BE49-F238E27FC236}">
                <a16:creationId xmlns:a16="http://schemas.microsoft.com/office/drawing/2014/main" id="{EB0FC379-BE37-713E-2F9F-716C951FB794}"/>
              </a:ext>
            </a:extLst>
          </p:cNvPr>
          <p:cNvPicPr>
            <a:picLocks noChangeAspect="1"/>
          </p:cNvPicPr>
          <p:nvPr/>
        </p:nvPicPr>
        <p:blipFill>
          <a:blip r:embed="rId2"/>
          <a:stretch>
            <a:fillRect/>
          </a:stretch>
        </p:blipFill>
        <p:spPr>
          <a:xfrm>
            <a:off x="5787694" y="412937"/>
            <a:ext cx="5907571" cy="5539017"/>
          </a:xfrm>
          <a:prstGeom prst="rect">
            <a:avLst/>
          </a:prstGeom>
        </p:spPr>
      </p:pic>
      <p:pic>
        <p:nvPicPr>
          <p:cNvPr id="3" name="Picture 2">
            <a:extLst>
              <a:ext uri="{FF2B5EF4-FFF2-40B4-BE49-F238E27FC236}">
                <a16:creationId xmlns:a16="http://schemas.microsoft.com/office/drawing/2014/main" id="{11C2A11F-1353-7650-D317-937888761E49}"/>
              </a:ext>
            </a:extLst>
          </p:cNvPr>
          <p:cNvPicPr>
            <a:picLocks noChangeAspect="1"/>
          </p:cNvPicPr>
          <p:nvPr/>
        </p:nvPicPr>
        <p:blipFill>
          <a:blip r:embed="rId3"/>
          <a:stretch>
            <a:fillRect/>
          </a:stretch>
        </p:blipFill>
        <p:spPr>
          <a:xfrm>
            <a:off x="677541" y="325331"/>
            <a:ext cx="4929347" cy="5745906"/>
          </a:xfrm>
          <a:prstGeom prst="rect">
            <a:avLst/>
          </a:prstGeom>
        </p:spPr>
      </p:pic>
    </p:spTree>
    <p:extLst>
      <p:ext uri="{BB962C8B-B14F-4D97-AF65-F5344CB8AC3E}">
        <p14:creationId xmlns:p14="http://schemas.microsoft.com/office/powerpoint/2010/main" val="23507811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E82F7-1B7B-693D-51E6-5ECE4C20E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82AAE-5C1C-5D9C-C801-93028C9AA3FA}"/>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Conclusion and References</a:t>
            </a:r>
          </a:p>
        </p:txBody>
      </p:sp>
      <p:sp>
        <p:nvSpPr>
          <p:cNvPr id="24" name="Title 1">
            <a:extLst>
              <a:ext uri="{FF2B5EF4-FFF2-40B4-BE49-F238E27FC236}">
                <a16:creationId xmlns:a16="http://schemas.microsoft.com/office/drawing/2014/main" id="{84A673B8-0C09-B391-196A-A1FF0BC72032}"/>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2035705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0756393" cy="640080"/>
          </a:xfrm>
        </p:spPr>
        <p:txBody>
          <a:bodyPr>
            <a:noAutofit/>
          </a:bodyPr>
          <a:lstStyle/>
          <a:p>
            <a:pPr lvl="0"/>
            <a:r>
              <a:rPr lang="en-US" sz="3200" b="1" dirty="0">
                <a:latin typeface="Segoe UI Light" panose="020B0502040204020203" pitchFamily="34" charset="0"/>
                <a:cs typeface="Segoe UI Light" panose="020B0502040204020203" pitchFamily="34" charset="0"/>
              </a:rPr>
              <a:t>Conclusion</a:t>
            </a:r>
          </a:p>
        </p:txBody>
      </p:sp>
      <p:sp>
        <p:nvSpPr>
          <p:cNvPr id="24" name="Title 1"/>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3" name="TextBox 2">
            <a:extLst>
              <a:ext uri="{FF2B5EF4-FFF2-40B4-BE49-F238E27FC236}">
                <a16:creationId xmlns:a16="http://schemas.microsoft.com/office/drawing/2014/main" id="{109C60E3-92F6-45A0-AE47-21FCF35FD836}"/>
              </a:ext>
            </a:extLst>
          </p:cNvPr>
          <p:cNvSpPr txBox="1"/>
          <p:nvPr/>
        </p:nvSpPr>
        <p:spPr>
          <a:xfrm>
            <a:off x="521207" y="1458801"/>
            <a:ext cx="11000233" cy="2246769"/>
          </a:xfrm>
          <a:prstGeom prst="rect">
            <a:avLst/>
          </a:prstGeom>
          <a:noFill/>
        </p:spPr>
        <p:txBody>
          <a:bodyPr wrap="square" rtlCol="0">
            <a:spAutoFit/>
          </a:bodyPr>
          <a:lstStyle/>
          <a:p>
            <a:r>
              <a:rPr lang="en-US" sz="2000" dirty="0" err="1">
                <a:latin typeface="Times New Roman" panose="02020603050405020304" pitchFamily="18" charset="0"/>
                <a:cs typeface="Times New Roman" panose="02020603050405020304" pitchFamily="18" charset="0"/>
              </a:rPr>
              <a:t>GridLock</a:t>
            </a:r>
            <a:r>
              <a:rPr lang="en-US" sz="2000" dirty="0">
                <a:latin typeface="Times New Roman" panose="02020603050405020304" pitchFamily="18" charset="0"/>
                <a:cs typeface="Times New Roman" panose="02020603050405020304" pitchFamily="18" charset="0"/>
              </a:rPr>
              <a:t> successfully demonstrates a </a:t>
            </a:r>
            <a:r>
              <a:rPr lang="en-US" sz="2000" b="1" dirty="0">
                <a:latin typeface="Times New Roman" panose="02020603050405020304" pitchFamily="18" charset="0"/>
                <a:cs typeface="Times New Roman" panose="02020603050405020304" pitchFamily="18" charset="0"/>
              </a:rPr>
              <a:t>secure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scalable</a:t>
            </a:r>
            <a:r>
              <a:rPr lang="en-US" sz="2000" dirty="0">
                <a:latin typeface="Times New Roman" panose="02020603050405020304" pitchFamily="18" charset="0"/>
                <a:cs typeface="Times New Roman" panose="02020603050405020304" pitchFamily="18" charset="0"/>
              </a:rPr>
              <a:t>, and user-centric approach to authentication.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By merging visual grid interaction with cryptographic verification and OIDC integration, it bridges the gap between usability and high security.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It represents a major leap toward decentralized and privacy-first identity management, reducing dependency on major providers like Google.</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0756393" cy="640080"/>
          </a:xfrm>
        </p:spPr>
        <p:txBody>
          <a:bodyPr>
            <a:noAutofit/>
          </a:bodyPr>
          <a:lstStyle/>
          <a:p>
            <a:pPr lvl="0"/>
            <a:r>
              <a:rPr lang="en-US" sz="3200" b="1" dirty="0">
                <a:latin typeface="Segoe UI Light" panose="020B0502040204020203" pitchFamily="34" charset="0"/>
                <a:cs typeface="Segoe UI Light" panose="020B0502040204020203" pitchFamily="34" charset="0"/>
              </a:rPr>
              <a:t>References</a:t>
            </a:r>
          </a:p>
        </p:txBody>
      </p:sp>
      <p:sp>
        <p:nvSpPr>
          <p:cNvPr id="24" name="Title 1"/>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5" name="Text 1"/>
          <p:cNvSpPr/>
          <p:nvPr/>
        </p:nvSpPr>
        <p:spPr>
          <a:xfrm>
            <a:off x="521207" y="1365336"/>
            <a:ext cx="10349995" cy="352627"/>
          </a:xfrm>
          <a:prstGeom prst="rect">
            <a:avLst/>
          </a:prstGeom>
          <a:noFill/>
          <a:ln/>
        </p:spPr>
        <p:txBody>
          <a:bodyPr wrap="none" lIns="0" tIns="0" rIns="0" bIns="0" rtlCol="0" anchor="t"/>
          <a:lstStyle/>
          <a:p>
            <a:pPr marL="0" indent="0">
              <a:lnSpc>
                <a:spcPts val="2850"/>
              </a:lnSpc>
              <a:buNone/>
            </a:pPr>
            <a:r>
              <a:rPr lang="en-US" sz="1750" dirty="0">
                <a:latin typeface="Epilogue" pitchFamily="34" charset="0"/>
                <a:ea typeface="Epilogue" pitchFamily="34" charset="-122"/>
                <a:cs typeface="Epilogue" pitchFamily="34" charset="-120"/>
              </a:rPr>
              <a:t>All resources used for development are listed. These include websites, articles, and research papers.</a:t>
            </a:r>
            <a:endParaRPr lang="en-US" sz="1750" dirty="0"/>
          </a:p>
        </p:txBody>
      </p:sp>
      <p:sp>
        <p:nvSpPr>
          <p:cNvPr id="3" name="Rectangle 2"/>
          <p:cNvSpPr/>
          <p:nvPr/>
        </p:nvSpPr>
        <p:spPr>
          <a:xfrm>
            <a:off x="521207" y="1759632"/>
            <a:ext cx="10017484" cy="3970318"/>
          </a:xfrm>
          <a:prstGeom prst="rect">
            <a:avLst/>
          </a:prstGeom>
        </p:spPr>
        <p:txBody>
          <a:bodyPr wrap="square">
            <a:spAutoFit/>
          </a:bodyPr>
          <a:lstStyle/>
          <a:p>
            <a:pPr marL="342900" indent="-342900">
              <a:buFont typeface="Arial" panose="020B0604020202020204" pitchFamily="34" charset="0"/>
              <a:buChar char="•"/>
            </a:pPr>
            <a:r>
              <a:rPr lang="en-IN" dirty="0"/>
              <a:t>“Enhancing JWT Authentication and Authorization in Web Applications Based on User </a:t>
            </a:r>
            <a:r>
              <a:rPr lang="en-IN" dirty="0" err="1"/>
              <a:t>Behavior</a:t>
            </a:r>
            <a:r>
              <a:rPr lang="en-IN" dirty="0"/>
              <a:t> History” – Ahmet Bucko, Kamer </a:t>
            </a:r>
            <a:r>
              <a:rPr lang="en-IN" dirty="0" err="1"/>
              <a:t>Vishi</a:t>
            </a:r>
            <a:r>
              <a:rPr lang="en-IN" dirty="0"/>
              <a:t>, Bujar Krasniqi, Blerim Rexha (2023) (MDPI)</a:t>
            </a:r>
          </a:p>
          <a:p>
            <a:pPr marL="342900" indent="-342900">
              <a:buFont typeface="Arial" panose="020B0604020202020204" pitchFamily="34" charset="0"/>
              <a:buChar char="•"/>
            </a:pPr>
            <a:r>
              <a:rPr lang="en-IN" dirty="0"/>
              <a:t>“Innovations in Multi-Factor Authentication: Exploring OAuth for Enhanced Security” – Aravind Ayyagari, Shalu Jain, Anshika Aggarwal (2023) (Innovative Research Thoughts)</a:t>
            </a:r>
          </a:p>
          <a:p>
            <a:pPr marL="342900" indent="-342900">
              <a:buFont typeface="Arial" panose="020B0604020202020204" pitchFamily="34" charset="0"/>
              <a:buChar char="•"/>
            </a:pPr>
            <a:r>
              <a:rPr lang="en-IN" dirty="0"/>
              <a:t>Exploiting and Securing OAuth 2.0 in Integration Platforms — USENIX / Sec 2024/2025 preprint. (USENIX)</a:t>
            </a:r>
          </a:p>
          <a:p>
            <a:pPr marL="342900" indent="-342900">
              <a:buFont typeface="Arial" panose="020B0604020202020204" pitchFamily="34" charset="0"/>
              <a:buChar char="•"/>
            </a:pPr>
            <a:r>
              <a:rPr lang="en-IN" dirty="0"/>
              <a:t>Identifying Implementation Flaws of SMS OTP Authentication — IEEE / Computer Society (2025). (IEEE Computer Society)</a:t>
            </a:r>
          </a:p>
          <a:p>
            <a:pPr marL="342900" indent="-342900">
              <a:buFont typeface="Arial" panose="020B0604020202020204" pitchFamily="34" charset="0"/>
              <a:buChar char="•"/>
            </a:pPr>
            <a:r>
              <a:rPr lang="en-IN" dirty="0"/>
              <a:t>A Review of Password-less User Authentication Schemes — </a:t>
            </a:r>
            <a:r>
              <a:rPr lang="en-IN" dirty="0" err="1"/>
              <a:t>arXiv</a:t>
            </a:r>
            <a:r>
              <a:rPr lang="en-IN" dirty="0"/>
              <a:t> (Dec 2023). (</a:t>
            </a:r>
            <a:r>
              <a:rPr lang="en-IN" dirty="0" err="1"/>
              <a:t>arXiv</a:t>
            </a:r>
            <a:r>
              <a:rPr lang="en-IN" dirty="0"/>
              <a:t>)</a:t>
            </a:r>
          </a:p>
          <a:p>
            <a:pPr marL="342900" indent="-342900">
              <a:buFont typeface="Arial" panose="020B0604020202020204" pitchFamily="34" charset="0"/>
              <a:buChar char="•"/>
            </a:pPr>
            <a:r>
              <a:rPr lang="en-IN" dirty="0"/>
              <a:t>The </a:t>
            </a:r>
            <a:r>
              <a:rPr lang="en-IN" dirty="0" err="1"/>
              <a:t>utilty</a:t>
            </a:r>
            <a:r>
              <a:rPr lang="en-IN" dirty="0"/>
              <a:t> of </a:t>
            </a:r>
            <a:r>
              <a:rPr lang="en-IN" dirty="0" err="1"/>
              <a:t>behavioral</a:t>
            </a:r>
            <a:r>
              <a:rPr lang="en-IN" dirty="0"/>
              <a:t> biometrics in user authentication — scoping review (Finnegan et al., 2024). (PMC)</a:t>
            </a:r>
          </a:p>
          <a:p>
            <a:pPr marL="342900" indent="-342900">
              <a:buFont typeface="Arial" panose="020B0604020202020204" pitchFamily="34" charset="0"/>
              <a:buChar char="•"/>
            </a:pPr>
            <a:r>
              <a:rPr lang="en-IN" dirty="0" err="1"/>
              <a:t>Passwordless</a:t>
            </a:r>
            <a:r>
              <a:rPr lang="en-IN" dirty="0"/>
              <a:t> Authentication Using a Combination of Cryptography, Steganography &amp; Biometrics — MDPI Sensors/Networks (2024). (MDPI)</a:t>
            </a:r>
          </a:p>
          <a:p>
            <a:pPr marL="342900" indent="-342900">
              <a:buFont typeface="Arial" panose="020B0604020202020204" pitchFamily="34" charset="0"/>
              <a:buChar char="•"/>
            </a:pP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369E3-1FB6-8C3C-CB89-AF44FA32D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84306-D6C0-781B-DE82-7DDC818209D6}"/>
              </a:ext>
            </a:extLst>
          </p:cNvPr>
          <p:cNvSpPr>
            <a:spLocks noGrp="1"/>
          </p:cNvSpPr>
          <p:nvPr>
            <p:ph type="title"/>
          </p:nvPr>
        </p:nvSpPr>
        <p:spPr>
          <a:xfrm>
            <a:off x="390419" y="3429000"/>
            <a:ext cx="9048569" cy="640080"/>
          </a:xfrm>
        </p:spPr>
        <p:txBody>
          <a:bodyPr>
            <a:noAutofit/>
          </a:bodyPr>
          <a:lstStyle/>
          <a:p>
            <a:pPr lvl="0"/>
            <a:r>
              <a:rPr lang="en-US" sz="60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Appendix</a:t>
            </a:r>
          </a:p>
        </p:txBody>
      </p:sp>
      <p:sp>
        <p:nvSpPr>
          <p:cNvPr id="24" name="Title 1">
            <a:extLst>
              <a:ext uri="{FF2B5EF4-FFF2-40B4-BE49-F238E27FC236}">
                <a16:creationId xmlns:a16="http://schemas.microsoft.com/office/drawing/2014/main" id="{798A6CA8-58EF-5172-B1EE-7DC8400AB419}"/>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extLst>
      <p:ext uri="{BB962C8B-B14F-4D97-AF65-F5344CB8AC3E}">
        <p14:creationId xmlns:p14="http://schemas.microsoft.com/office/powerpoint/2010/main" val="2349639354"/>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37DB4-BE1C-3FF1-D9C7-71F7DAA20A09}"/>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1099C7D8-4EE6-5FB4-DDC2-94973C7E24E9}"/>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4" name="Title 3">
            <a:extLst>
              <a:ext uri="{FF2B5EF4-FFF2-40B4-BE49-F238E27FC236}">
                <a16:creationId xmlns:a16="http://schemas.microsoft.com/office/drawing/2014/main" id="{8B0AE640-1488-26E0-3B8D-BE4F18A309A7}"/>
              </a:ext>
            </a:extLst>
          </p:cNvPr>
          <p:cNvSpPr>
            <a:spLocks noGrp="1"/>
          </p:cNvSpPr>
          <p:nvPr>
            <p:ph type="title"/>
          </p:nvPr>
        </p:nvSpPr>
        <p:spPr/>
        <p:txBody>
          <a:bodyPr/>
          <a:lstStyle/>
          <a:p>
            <a:r>
              <a:rPr lang="en-IN" dirty="0"/>
              <a:t>Presented at Axiom – Pillai HOC, New </a:t>
            </a:r>
            <a:r>
              <a:rPr lang="en-IN" dirty="0" err="1"/>
              <a:t>Panvel</a:t>
            </a:r>
            <a:endParaRPr lang="en-IN" dirty="0"/>
          </a:p>
        </p:txBody>
      </p:sp>
      <p:pic>
        <p:nvPicPr>
          <p:cNvPr id="6" name="Picture 5">
            <a:extLst>
              <a:ext uri="{FF2B5EF4-FFF2-40B4-BE49-F238E27FC236}">
                <a16:creationId xmlns:a16="http://schemas.microsoft.com/office/drawing/2014/main" id="{2E5BC326-9DBF-B5CA-0EA0-84920E4A0357}"/>
              </a:ext>
            </a:extLst>
          </p:cNvPr>
          <p:cNvPicPr>
            <a:picLocks noChangeAspect="1"/>
          </p:cNvPicPr>
          <p:nvPr/>
        </p:nvPicPr>
        <p:blipFill>
          <a:blip r:embed="rId2"/>
          <a:stretch>
            <a:fillRect/>
          </a:stretch>
        </p:blipFill>
        <p:spPr>
          <a:xfrm rot="16200000">
            <a:off x="3878544" y="-384465"/>
            <a:ext cx="4588132" cy="8156679"/>
          </a:xfrm>
          <a:prstGeom prst="rect">
            <a:avLst/>
          </a:prstGeom>
        </p:spPr>
      </p:pic>
    </p:spTree>
    <p:extLst>
      <p:ext uri="{BB962C8B-B14F-4D97-AF65-F5344CB8AC3E}">
        <p14:creationId xmlns:p14="http://schemas.microsoft.com/office/powerpoint/2010/main" val="3535981428"/>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E8913-456A-46F1-FCBF-A8163DC0A652}"/>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3F2F1880-17BF-63D7-54FA-DC3BBA2FA2B4}"/>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4" name="Title 3">
            <a:extLst>
              <a:ext uri="{FF2B5EF4-FFF2-40B4-BE49-F238E27FC236}">
                <a16:creationId xmlns:a16="http://schemas.microsoft.com/office/drawing/2014/main" id="{08DA1D85-CFC1-C666-2B22-A516A8CD16DC}"/>
              </a:ext>
            </a:extLst>
          </p:cNvPr>
          <p:cNvSpPr>
            <a:spLocks noGrp="1"/>
          </p:cNvSpPr>
          <p:nvPr>
            <p:ph type="title"/>
          </p:nvPr>
        </p:nvSpPr>
        <p:spPr>
          <a:xfrm>
            <a:off x="521206" y="448056"/>
            <a:ext cx="10844883" cy="640080"/>
          </a:xfrm>
        </p:spPr>
        <p:txBody>
          <a:bodyPr>
            <a:normAutofit/>
          </a:bodyPr>
          <a:lstStyle/>
          <a:p>
            <a:r>
              <a:rPr lang="en-IN" dirty="0"/>
              <a:t>Presented at Innovation2K25, </a:t>
            </a:r>
            <a:r>
              <a:rPr lang="en-IN" dirty="0" err="1"/>
              <a:t>Phaltan</a:t>
            </a:r>
            <a:r>
              <a:rPr lang="en-IN" dirty="0"/>
              <a:t> College of Engineering, Satara </a:t>
            </a:r>
          </a:p>
        </p:txBody>
      </p:sp>
      <p:pic>
        <p:nvPicPr>
          <p:cNvPr id="3" name="Picture 2">
            <a:extLst>
              <a:ext uri="{FF2B5EF4-FFF2-40B4-BE49-F238E27FC236}">
                <a16:creationId xmlns:a16="http://schemas.microsoft.com/office/drawing/2014/main" id="{C3C86CE0-661F-DC27-2727-E987F9AD5C48}"/>
              </a:ext>
            </a:extLst>
          </p:cNvPr>
          <p:cNvPicPr>
            <a:picLocks noChangeAspect="1"/>
          </p:cNvPicPr>
          <p:nvPr/>
        </p:nvPicPr>
        <p:blipFill>
          <a:blip r:embed="rId2"/>
          <a:stretch>
            <a:fillRect/>
          </a:stretch>
        </p:blipFill>
        <p:spPr>
          <a:xfrm>
            <a:off x="1261902" y="1295722"/>
            <a:ext cx="3111862" cy="2333897"/>
          </a:xfrm>
          <a:prstGeom prst="rect">
            <a:avLst/>
          </a:prstGeom>
        </p:spPr>
      </p:pic>
      <p:pic>
        <p:nvPicPr>
          <p:cNvPr id="7" name="Picture 6">
            <a:extLst>
              <a:ext uri="{FF2B5EF4-FFF2-40B4-BE49-F238E27FC236}">
                <a16:creationId xmlns:a16="http://schemas.microsoft.com/office/drawing/2014/main" id="{C25BF6CC-52B4-EDF5-9815-8172CA167158}"/>
              </a:ext>
            </a:extLst>
          </p:cNvPr>
          <p:cNvPicPr>
            <a:picLocks noChangeAspect="1"/>
          </p:cNvPicPr>
          <p:nvPr/>
        </p:nvPicPr>
        <p:blipFill>
          <a:blip r:embed="rId3"/>
          <a:stretch>
            <a:fillRect/>
          </a:stretch>
        </p:blipFill>
        <p:spPr>
          <a:xfrm>
            <a:off x="1349597" y="3733412"/>
            <a:ext cx="2936472" cy="2202354"/>
          </a:xfrm>
          <a:prstGeom prst="rect">
            <a:avLst/>
          </a:prstGeom>
        </p:spPr>
      </p:pic>
      <p:pic>
        <p:nvPicPr>
          <p:cNvPr id="11" name="Picture 10">
            <a:extLst>
              <a:ext uri="{FF2B5EF4-FFF2-40B4-BE49-F238E27FC236}">
                <a16:creationId xmlns:a16="http://schemas.microsoft.com/office/drawing/2014/main" id="{6170EBE8-3750-F2A0-382A-C3756D58242D}"/>
              </a:ext>
            </a:extLst>
          </p:cNvPr>
          <p:cNvPicPr>
            <a:picLocks noChangeAspect="1"/>
          </p:cNvPicPr>
          <p:nvPr/>
        </p:nvPicPr>
        <p:blipFill>
          <a:blip r:embed="rId4"/>
          <a:stretch>
            <a:fillRect/>
          </a:stretch>
        </p:blipFill>
        <p:spPr>
          <a:xfrm>
            <a:off x="4762185" y="1382214"/>
            <a:ext cx="6603904" cy="4458147"/>
          </a:xfrm>
          <a:prstGeom prst="rect">
            <a:avLst/>
          </a:prstGeom>
        </p:spPr>
      </p:pic>
    </p:spTree>
    <p:extLst>
      <p:ext uri="{BB962C8B-B14F-4D97-AF65-F5344CB8AC3E}">
        <p14:creationId xmlns:p14="http://schemas.microsoft.com/office/powerpoint/2010/main" val="3823103765"/>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0EC23-8E38-C1A7-6F2F-603772598446}"/>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07EAA334-B64D-E325-DC1B-AC2B52BEE41B}"/>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4" name="Title 3">
            <a:extLst>
              <a:ext uri="{FF2B5EF4-FFF2-40B4-BE49-F238E27FC236}">
                <a16:creationId xmlns:a16="http://schemas.microsoft.com/office/drawing/2014/main" id="{C29258BC-2067-3724-FE9C-D799D0137A44}"/>
              </a:ext>
            </a:extLst>
          </p:cNvPr>
          <p:cNvSpPr>
            <a:spLocks noGrp="1"/>
          </p:cNvSpPr>
          <p:nvPr>
            <p:ph type="title"/>
          </p:nvPr>
        </p:nvSpPr>
        <p:spPr>
          <a:xfrm>
            <a:off x="521206" y="448056"/>
            <a:ext cx="10844883" cy="640080"/>
          </a:xfrm>
        </p:spPr>
        <p:txBody>
          <a:bodyPr>
            <a:normAutofit/>
          </a:bodyPr>
          <a:lstStyle/>
          <a:p>
            <a:r>
              <a:rPr lang="en-IN" dirty="0"/>
              <a:t>Presented at Innovation2K25, </a:t>
            </a:r>
            <a:r>
              <a:rPr lang="en-IN" dirty="0" err="1"/>
              <a:t>Phaltan</a:t>
            </a:r>
            <a:r>
              <a:rPr lang="en-IN" dirty="0"/>
              <a:t> College of Engineering, Satara </a:t>
            </a:r>
          </a:p>
        </p:txBody>
      </p:sp>
      <p:pic>
        <p:nvPicPr>
          <p:cNvPr id="5" name="Picture 4">
            <a:extLst>
              <a:ext uri="{FF2B5EF4-FFF2-40B4-BE49-F238E27FC236}">
                <a16:creationId xmlns:a16="http://schemas.microsoft.com/office/drawing/2014/main" id="{AE3B4B30-B45A-F334-E132-373E398A5264}"/>
              </a:ext>
            </a:extLst>
          </p:cNvPr>
          <p:cNvPicPr>
            <a:picLocks noChangeAspect="1"/>
          </p:cNvPicPr>
          <p:nvPr/>
        </p:nvPicPr>
        <p:blipFill>
          <a:blip r:embed="rId2"/>
          <a:stretch>
            <a:fillRect/>
          </a:stretch>
        </p:blipFill>
        <p:spPr>
          <a:xfrm>
            <a:off x="2320460" y="1322093"/>
            <a:ext cx="7246373" cy="4640825"/>
          </a:xfrm>
          <a:prstGeom prst="rect">
            <a:avLst/>
          </a:prstGeom>
        </p:spPr>
      </p:pic>
    </p:spTree>
    <p:extLst>
      <p:ext uri="{BB962C8B-B14F-4D97-AF65-F5344CB8AC3E}">
        <p14:creationId xmlns:p14="http://schemas.microsoft.com/office/powerpoint/2010/main" val="3111291003"/>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8560-C30B-E557-039E-CD55F569CEF7}"/>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EEEC1423-D6F5-A0D4-6B0F-7D41460DDB22}"/>
              </a:ext>
            </a:extLst>
          </p:cNvPr>
          <p:cNvSpPr txBox="1"/>
          <p:nvPr/>
        </p:nvSpPr>
        <p:spPr>
          <a:xfrm>
            <a:off x="390419" y="6039560"/>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
        <p:nvSpPr>
          <p:cNvPr id="4" name="Title 3">
            <a:extLst>
              <a:ext uri="{FF2B5EF4-FFF2-40B4-BE49-F238E27FC236}">
                <a16:creationId xmlns:a16="http://schemas.microsoft.com/office/drawing/2014/main" id="{BCA185CC-486A-B362-8FB8-7F5E3240FCB1}"/>
              </a:ext>
            </a:extLst>
          </p:cNvPr>
          <p:cNvSpPr>
            <a:spLocks noGrp="1"/>
          </p:cNvSpPr>
          <p:nvPr>
            <p:ph type="title"/>
          </p:nvPr>
        </p:nvSpPr>
        <p:spPr>
          <a:xfrm>
            <a:off x="521206" y="448056"/>
            <a:ext cx="10844883" cy="640080"/>
          </a:xfrm>
        </p:spPr>
        <p:txBody>
          <a:bodyPr>
            <a:normAutofit/>
          </a:bodyPr>
          <a:lstStyle/>
          <a:p>
            <a:r>
              <a:rPr lang="en-IN" dirty="0"/>
              <a:t>Our Happy Users </a:t>
            </a:r>
          </a:p>
        </p:txBody>
      </p:sp>
      <p:pic>
        <p:nvPicPr>
          <p:cNvPr id="3" name="Picture 2">
            <a:extLst>
              <a:ext uri="{FF2B5EF4-FFF2-40B4-BE49-F238E27FC236}">
                <a16:creationId xmlns:a16="http://schemas.microsoft.com/office/drawing/2014/main" id="{B679758E-A1C1-F869-7E28-955C619E89B1}"/>
              </a:ext>
            </a:extLst>
          </p:cNvPr>
          <p:cNvPicPr>
            <a:picLocks noChangeAspect="1"/>
          </p:cNvPicPr>
          <p:nvPr/>
        </p:nvPicPr>
        <p:blipFill>
          <a:blip r:embed="rId2"/>
          <a:stretch>
            <a:fillRect/>
          </a:stretch>
        </p:blipFill>
        <p:spPr>
          <a:xfrm>
            <a:off x="655890" y="1779638"/>
            <a:ext cx="4747695" cy="3566670"/>
          </a:xfrm>
          <a:prstGeom prst="rect">
            <a:avLst/>
          </a:prstGeom>
        </p:spPr>
      </p:pic>
      <p:pic>
        <p:nvPicPr>
          <p:cNvPr id="7" name="Picture 6">
            <a:extLst>
              <a:ext uri="{FF2B5EF4-FFF2-40B4-BE49-F238E27FC236}">
                <a16:creationId xmlns:a16="http://schemas.microsoft.com/office/drawing/2014/main" id="{BC4ACB63-E955-CB95-F860-C1456796F07E}"/>
              </a:ext>
            </a:extLst>
          </p:cNvPr>
          <p:cNvPicPr>
            <a:picLocks noChangeAspect="1"/>
          </p:cNvPicPr>
          <p:nvPr/>
        </p:nvPicPr>
        <p:blipFill>
          <a:blip r:embed="rId3"/>
          <a:stretch>
            <a:fillRect/>
          </a:stretch>
        </p:blipFill>
        <p:spPr>
          <a:xfrm>
            <a:off x="6096000" y="1691148"/>
            <a:ext cx="5203091" cy="3690495"/>
          </a:xfrm>
          <a:prstGeom prst="rect">
            <a:avLst/>
          </a:prstGeom>
        </p:spPr>
      </p:pic>
    </p:spTree>
    <p:extLst>
      <p:ext uri="{BB962C8B-B14F-4D97-AF65-F5344CB8AC3E}">
        <p14:creationId xmlns:p14="http://schemas.microsoft.com/office/powerpoint/2010/main" val="3067141542"/>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521208" y="1053305"/>
            <a:ext cx="6876288" cy="640080"/>
          </a:xfrm>
        </p:spPr>
        <p:txBody>
          <a:bodyPr>
            <a:normAutofit/>
          </a:bodyPr>
          <a:lstStyle/>
          <a:p>
            <a:r>
              <a:rPr lang="en-US" b="1" dirty="0">
                <a:solidFill>
                  <a:schemeClr val="tx1"/>
                </a:solidFill>
                <a:latin typeface="Segoe UI Light" panose="020B0502040204020203" pitchFamily="34" charset="0"/>
                <a:cs typeface="Segoe UI Light" panose="020B0502040204020203" pitchFamily="34" charset="0"/>
              </a:rPr>
              <a:t>	</a:t>
            </a:r>
          </a:p>
        </p:txBody>
      </p:sp>
      <p:sp>
        <p:nvSpPr>
          <p:cNvPr id="5" name="Content Placeholder 4"/>
          <p:cNvSpPr>
            <a:spLocks noGrp="1"/>
          </p:cNvSpPr>
          <p:nvPr>
            <p:ph sz="quarter" idx="13"/>
          </p:nvPr>
        </p:nvSpPr>
        <p:spPr>
          <a:xfrm>
            <a:off x="619166" y="3096556"/>
            <a:ext cx="9735820" cy="3084830"/>
          </a:xfrm>
        </p:spPr>
        <p:txBody>
          <a:bodyPr>
            <a:normAutofit fontScale="97500"/>
          </a:bodyPr>
          <a:lstStyle/>
          <a:p>
            <a:pPr marL="0" indent="0" algn="ctr">
              <a:lnSpc>
                <a:spcPts val="3600"/>
              </a:lnSpc>
              <a:spcAft>
                <a:spcPts val="0"/>
              </a:spcAft>
              <a:buNone/>
            </a:pPr>
            <a:endParaRPr lang="en-US" sz="11500" b="1" dirty="0">
              <a:latin typeface="Segoe UI Light" panose="020B0502040204020203" pitchFamily="34" charset="0"/>
              <a:cs typeface="Segoe UI Light" panose="020B0502040204020203" pitchFamily="34" charset="0"/>
            </a:endParaRPr>
          </a:p>
          <a:p>
            <a:pPr marL="0" indent="0" algn="ctr">
              <a:lnSpc>
                <a:spcPts val="3600"/>
              </a:lnSpc>
              <a:spcAft>
                <a:spcPts val="0"/>
              </a:spcAft>
              <a:buNone/>
            </a:pPr>
            <a:endParaRPr lang="en-US" sz="16600" b="1" dirty="0">
              <a:latin typeface="Segoe UI Light" panose="020B0502040204020203" pitchFamily="34" charset="0"/>
              <a:cs typeface="Segoe UI Light" panose="020B0502040204020203" pitchFamily="34" charset="0"/>
            </a:endParaRPr>
          </a:p>
          <a:p>
            <a:pPr marL="0" indent="0" algn="ctr">
              <a:lnSpc>
                <a:spcPts val="3600"/>
              </a:lnSpc>
              <a:spcAft>
                <a:spcPts val="0"/>
              </a:spcAft>
              <a:buNone/>
            </a:pPr>
            <a:r>
              <a:rPr lang="en-US" sz="16600" b="1" dirty="0">
                <a:latin typeface="Segoe UI Light" panose="020B0502040204020203" pitchFamily="34" charset="0"/>
                <a:cs typeface="Segoe UI Light" panose="020B0502040204020203" pitchFamily="34" charset="0"/>
              </a:rPr>
              <a:t>Thank You</a:t>
            </a:r>
          </a:p>
          <a:p>
            <a:pPr marL="0" indent="0" algn="ctr">
              <a:lnSpc>
                <a:spcPts val="3600"/>
              </a:lnSpc>
              <a:spcAft>
                <a:spcPts val="0"/>
              </a:spcAft>
              <a:buNone/>
            </a:pPr>
            <a:endParaRPr lang="en-US" sz="16600" b="1" dirty="0">
              <a:latin typeface="Segoe UI Light" panose="020B0502040204020203" pitchFamily="34" charset="0"/>
              <a:cs typeface="Segoe UI Light" panose="020B0502040204020203" pitchFamily="34" charset="0"/>
            </a:endParaRPr>
          </a:p>
        </p:txBody>
      </p:sp>
      <p:sp>
        <p:nvSpPr>
          <p:cNvPr id="4" name="Title 1"/>
          <p:cNvSpPr txBox="1"/>
          <p:nvPr/>
        </p:nvSpPr>
        <p:spPr>
          <a:xfrm>
            <a:off x="353174" y="6181386"/>
            <a:ext cx="11485652" cy="493109"/>
          </a:xfrm>
          <a:prstGeom prst="rect">
            <a:avLst/>
          </a:prstGeom>
          <a:solidFill>
            <a:schemeClr val="accent1">
              <a:lumMod val="75000"/>
            </a:schemeClr>
          </a:solidFill>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US" sz="2600" dirty="0">
                <a:solidFill>
                  <a:schemeClr val="bg1"/>
                </a:solidFill>
              </a:rPr>
              <a:t>A.I. </a:t>
            </a:r>
            <a:r>
              <a:rPr lang="en-US" sz="2600" dirty="0" err="1">
                <a:solidFill>
                  <a:schemeClr val="bg1"/>
                </a:solidFill>
              </a:rPr>
              <a:t>Kalsekar</a:t>
            </a:r>
            <a:r>
              <a:rPr lang="en-US" sz="2600" dirty="0">
                <a:solidFill>
                  <a:schemeClr val="bg1"/>
                </a:solidFill>
              </a:rPr>
              <a:t> Technical Campus, New </a:t>
            </a:r>
            <a:r>
              <a:rPr lang="en-US" sz="2600" dirty="0" err="1">
                <a:solidFill>
                  <a:schemeClr val="bg1"/>
                </a:solidFill>
              </a:rPr>
              <a:t>Panvel</a:t>
            </a:r>
            <a:r>
              <a:rPr lang="en-US" sz="2600" dirty="0">
                <a:solidFill>
                  <a:schemeClr val="bg1"/>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0072C5-DDE0-4258-BA7A-4D4B80DFA632}">
  <ds:schemaRefs>
    <ds:schemaRef ds:uri="http://purl.org/dc/terms/"/>
    <ds:schemaRef ds:uri="http://purl.org/dc/dcmitype/"/>
    <ds:schemaRef ds:uri="http://purl.org/dc/elements/1.1/"/>
    <ds:schemaRef ds:uri="http://schemas.openxmlformats.org/package/2006/metadata/core-properties"/>
    <ds:schemaRef ds:uri="http://schemas.microsoft.com/office/2006/documentManagement/types"/>
    <ds:schemaRef ds:uri="71af3243-3dd4-4a8d-8c0d-dd76da1f02a5"/>
    <ds:schemaRef ds:uri="http://www.w3.org/XML/1998/namespace"/>
    <ds:schemaRef ds:uri="http://schemas.microsoft.com/office/2006/metadata/properties"/>
    <ds:schemaRef ds:uri="http://schemas.microsoft.com/office/infopath/2007/PartnerControls"/>
    <ds:schemaRef ds:uri="16c05727-aa75-4e4a-9b5f-8a80a1165891"/>
  </ds:schemaRefs>
</ds:datastoreItem>
</file>

<file path=customXml/itemProps2.xml><?xml version="1.0" encoding="utf-8"?>
<ds:datastoreItem xmlns:ds="http://schemas.openxmlformats.org/officeDocument/2006/customXml" ds:itemID="{7EE8C63A-4744-4DE4-BB49-0FF0B5375C60}">
  <ds:schemaRefs/>
</ds:datastoreItem>
</file>

<file path=customXml/itemProps3.xml><?xml version="1.0" encoding="utf-8"?>
<ds:datastoreItem xmlns:ds="http://schemas.openxmlformats.org/officeDocument/2006/customXml" ds:itemID="{FD7FC771-7DFE-49DA-B577-71181BFBCB2E}">
  <ds:schemaRefs/>
</ds:datastoreItem>
</file>

<file path=docProps/app.xml><?xml version="1.0" encoding="utf-8"?>
<Properties xmlns="http://schemas.openxmlformats.org/officeDocument/2006/extended-properties" xmlns:vt="http://schemas.openxmlformats.org/officeDocument/2006/docPropsVTypes">
  <TotalTime>196</TotalTime>
  <Words>1664</Words>
  <Application>Microsoft Office PowerPoint</Application>
  <PresentationFormat>Widescreen</PresentationFormat>
  <Paragraphs>162</Paragraphs>
  <Slides>33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Calibri</vt:lpstr>
      <vt:lpstr>Calibri Light</vt:lpstr>
      <vt:lpstr>Epilogue</vt:lpstr>
      <vt:lpstr>Segoe UI Light</vt:lpstr>
      <vt:lpstr>Source Sans Pro</vt:lpstr>
      <vt:lpstr>Times New Roman</vt:lpstr>
      <vt:lpstr>Wingdings</vt:lpstr>
      <vt:lpstr>Office Theme</vt:lpstr>
      <vt:lpstr>AIKTC – Anjuman-I-Islam’s Kalsekar Technical Campus. Department of Electronics and Computer Science Engineering</vt:lpstr>
      <vt:lpstr>Outline</vt:lpstr>
      <vt:lpstr>Introduction</vt:lpstr>
      <vt:lpstr>Introduction and Motivation:</vt:lpstr>
      <vt:lpstr>Literature Survey</vt:lpstr>
      <vt:lpstr>Literature Survey</vt:lpstr>
      <vt:lpstr>Literature Survey</vt:lpstr>
      <vt:lpstr>Literature Survey</vt:lpstr>
      <vt:lpstr>Limitations</vt:lpstr>
      <vt:lpstr>Limitations of Existing System</vt:lpstr>
      <vt:lpstr>Problem Statement</vt:lpstr>
      <vt:lpstr>Problem Statement</vt:lpstr>
      <vt:lpstr>Proposed Methodology</vt:lpstr>
      <vt:lpstr>PowerPoint Presentation</vt:lpstr>
      <vt:lpstr>System Design</vt:lpstr>
      <vt:lpstr>PowerPoint Presentation</vt:lpstr>
      <vt:lpstr>Roadmap</vt:lpstr>
      <vt:lpstr> Roadmap</vt:lpstr>
      <vt:lpstr>Implementation Details</vt:lpstr>
      <vt:lpstr>Implementation Details</vt:lpstr>
      <vt:lpstr>Results</vt:lpstr>
      <vt:lpstr>Result Analysis</vt:lpstr>
      <vt:lpstr>PowerPoint Presentation</vt:lpstr>
      <vt:lpstr>PowerPoint Presentation</vt:lpstr>
      <vt:lpstr>Conclusion and References</vt:lpstr>
      <vt:lpstr>Conclusion</vt:lpstr>
      <vt:lpstr>References</vt:lpstr>
      <vt:lpstr>Appendix</vt:lpstr>
      <vt:lpstr>Presented at Axiom – Pillai HOC, New Panvel</vt:lpstr>
      <vt:lpstr>Presented at Innovation2K25, Phaltan College of Engineering, Satara </vt:lpstr>
      <vt:lpstr>Presented at Innovation2K25, Phaltan College of Engineering, Satara </vt:lpstr>
      <vt:lpstr>Our Happy Users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Abdul Rehman Kalsekar</cp:lastModifiedBy>
  <cp:revision>51</cp:revision>
  <dcterms:created xsi:type="dcterms:W3CDTF">2020-03-20T15:04:00Z</dcterms:created>
  <dcterms:modified xsi:type="dcterms:W3CDTF">2025-11-02T07:25:35Z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3AB73782C5DF43E392BDF07C469BA55C_13</vt:lpwstr>
  </property>
  <property fmtid="{D5CDD505-2E9C-101B-9397-08002B2CF9AE}" pid="4" name="KSOProductBuildVer">
    <vt:lpwstr>1033-12.2.0.20326</vt:lpwstr>
  </property>
</Properties>
</file>